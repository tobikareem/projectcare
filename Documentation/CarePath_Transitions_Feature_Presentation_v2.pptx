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3F43"/>
        </a:solidFill>
      </p:bgPr>
    </p:bg>
    <p:spTree>
      <p:nvGrpSpPr>
        <p:cNvPr id="1" name=""/>
        <p:cNvGrpSpPr/>
        <p:nvPr/>
      </p:nvGrpSpPr>
      <p:grpSpPr>
        <a:xfrm>
          <a:off x="0" y="0"/>
          <a:ext cx="0" cy="0"/>
          <a:chOff x="0" y="0"/>
          <a:chExt cx="0" cy="0"/>
        </a:xfrm>
      </p:grpSpPr>
      <p:sp>
        <p:nvSpPr>
          <p:cNvPr id="2" name="Shape 0"/>
          <p:cNvSpPr/>
          <p:nvPr/>
        </p:nvSpPr>
        <p:spPr>
          <a:xfrm>
            <a:off x="6949440" y="-914400"/>
            <a:ext cx="3200400" cy="3200400"/>
          </a:xfrm>
          <a:prstGeom prst="ellipse">
            <a:avLst/>
          </a:prstGeom>
          <a:solidFill>
            <a:srgbClr val="08737B">
              <a:alpha val="25000"/>
            </a:srgbClr>
          </a:solidFill>
          <a:ln w="12700">
            <a:solidFill>
              <a:srgbClr val="08737B">
                <a:alpha val="25000"/>
              </a:srgbClr>
            </a:solidFill>
            <a:prstDash val="solid"/>
          </a:ln>
        </p:spPr>
      </p:sp>
      <p:sp>
        <p:nvSpPr>
          <p:cNvPr id="3" name="Shape 1"/>
          <p:cNvSpPr/>
          <p:nvPr/>
        </p:nvSpPr>
        <p:spPr>
          <a:xfrm>
            <a:off x="7498080" y="3108960"/>
            <a:ext cx="1828800" cy="1828800"/>
          </a:xfrm>
          <a:prstGeom prst="ellipse">
            <a:avLst/>
          </a:prstGeom>
          <a:solidFill>
            <a:srgbClr val="C65323">
              <a:alpha val="18000"/>
            </a:srgbClr>
          </a:solidFill>
          <a:ln w="12700">
            <a:solidFill>
              <a:srgbClr val="C65323">
                <a:alpha val="18000"/>
              </a:srgbClr>
            </a:solidFill>
            <a:prstDash val="solid"/>
          </a:ln>
        </p:spPr>
      </p:sp>
      <p:sp>
        <p:nvSpPr>
          <p:cNvPr id="4" name="Shape 2"/>
          <p:cNvSpPr/>
          <p:nvPr/>
        </p:nvSpPr>
        <p:spPr>
          <a:xfrm>
            <a:off x="0" y="0"/>
            <a:ext cx="164592" cy="5143500"/>
          </a:xfrm>
          <a:prstGeom prst="rect">
            <a:avLst/>
          </a:prstGeom>
          <a:solidFill>
            <a:srgbClr val="C65323"/>
          </a:solidFill>
          <a:ln w="12700">
            <a:solidFill>
              <a:srgbClr val="C65323"/>
            </a:solidFill>
            <a:prstDash val="solid"/>
          </a:ln>
        </p:spPr>
      </p:sp>
      <p:sp>
        <p:nvSpPr>
          <p:cNvPr id="5" name="Text 3"/>
          <p:cNvSpPr/>
          <p:nvPr/>
        </p:nvSpPr>
        <p:spPr>
          <a:xfrm>
            <a:off x="411480" y="1005840"/>
            <a:ext cx="6858000" cy="347472"/>
          </a:xfrm>
          <a:prstGeom prst="rect">
            <a:avLst/>
          </a:prstGeom>
          <a:noFill/>
          <a:ln/>
        </p:spPr>
        <p:txBody>
          <a:bodyPr wrap="square" lIns="0" tIns="0" rIns="0" bIns="0" rtlCol="0" anchor="ctr"/>
          <a:lstStyle/>
          <a:p>
            <a:pPr indent="0" marL="0">
              <a:buNone/>
            </a:pPr>
            <a:r>
              <a:rPr lang="en-US" sz="950" b="1" spc="500" kern="0" dirty="0">
                <a:solidFill>
                  <a:srgbClr val="D9EFF0"/>
                </a:solidFill>
              </a:rPr>
              <a:t>FEATURE CONCEPT  ·  JUNE 2026</a:t>
            </a:r>
            <a:endParaRPr lang="en-US" sz="950" dirty="0"/>
          </a:p>
        </p:txBody>
      </p:sp>
      <p:sp>
        <p:nvSpPr>
          <p:cNvPr id="6" name="Text 4"/>
          <p:cNvSpPr/>
          <p:nvPr/>
        </p:nvSpPr>
        <p:spPr>
          <a:xfrm>
            <a:off x="411480" y="1444752"/>
            <a:ext cx="7772400" cy="1005840"/>
          </a:xfrm>
          <a:prstGeom prst="rect">
            <a:avLst/>
          </a:prstGeom>
          <a:noFill/>
          <a:ln/>
        </p:spPr>
        <p:txBody>
          <a:bodyPr wrap="square" lIns="0" tIns="0" rIns="0" bIns="0" rtlCol="0" anchor="ctr"/>
          <a:lstStyle/>
          <a:p>
            <a:pPr indent="0" marL="0">
              <a:buNone/>
            </a:pPr>
            <a:r>
              <a:rPr lang="en-US" sz="5000" b="1" dirty="0">
                <a:solidFill>
                  <a:srgbClr val="FFFFFF"/>
                </a:solidFill>
                <a:latin typeface="Calibri" pitchFamily="34" charset="0"/>
                <a:ea typeface="Calibri" pitchFamily="34" charset="-122"/>
                <a:cs typeface="Calibri" pitchFamily="34" charset="-120"/>
              </a:rPr>
              <a:t>CarePath Transitions</a:t>
            </a:r>
            <a:endParaRPr lang="en-US" sz="5000" dirty="0"/>
          </a:p>
        </p:txBody>
      </p:sp>
      <p:sp>
        <p:nvSpPr>
          <p:cNvPr id="7" name="Text 5"/>
          <p:cNvSpPr/>
          <p:nvPr/>
        </p:nvSpPr>
        <p:spPr>
          <a:xfrm>
            <a:off x="411480" y="2560320"/>
            <a:ext cx="6858000" cy="566928"/>
          </a:xfrm>
          <a:prstGeom prst="rect">
            <a:avLst/>
          </a:prstGeom>
          <a:noFill/>
          <a:ln/>
        </p:spPr>
        <p:txBody>
          <a:bodyPr wrap="square" lIns="0" tIns="0" rIns="0" bIns="0" rtlCol="0" anchor="ctr"/>
          <a:lstStyle/>
          <a:p>
            <a:pPr indent="0" marL="0">
              <a:buNone/>
            </a:pPr>
            <a:r>
              <a:rPr lang="en-US" sz="2200" dirty="0">
                <a:solidFill>
                  <a:srgbClr val="D9EFF0"/>
                </a:solidFill>
              </a:rPr>
              <a:t>30-Day Post-Discharge Support</a:t>
            </a:r>
            <a:endParaRPr lang="en-US" sz="2200" dirty="0"/>
          </a:p>
        </p:txBody>
      </p:sp>
      <p:sp>
        <p:nvSpPr>
          <p:cNvPr id="8" name="Text 6"/>
          <p:cNvSpPr/>
          <p:nvPr/>
        </p:nvSpPr>
        <p:spPr>
          <a:xfrm>
            <a:off x="411480" y="3246120"/>
            <a:ext cx="6675120" cy="640080"/>
          </a:xfrm>
          <a:prstGeom prst="rect">
            <a:avLst/>
          </a:prstGeom>
          <a:noFill/>
          <a:ln/>
        </p:spPr>
        <p:txBody>
          <a:bodyPr wrap="square" lIns="0" tIns="0" rIns="0" bIns="0" rtlCol="0" anchor="ctr"/>
          <a:lstStyle/>
          <a:p>
            <a:pPr indent="0" marL="0">
              <a:buNone/>
            </a:pPr>
            <a:r>
              <a:rPr lang="en-US" sz="1300" i="1" dirty="0">
                <a:solidFill>
                  <a:srgbClr val="A7CECC"/>
                </a:solidFill>
              </a:rPr>
              <a:t>From hospital instructions to daily recovery — verified, personalized, and escalation-ready.</a:t>
            </a:r>
            <a:endParaRPr lang="en-US" sz="1300" dirty="0"/>
          </a:p>
        </p:txBody>
      </p:sp>
      <p:sp>
        <p:nvSpPr>
          <p:cNvPr id="9" name="Shape 7"/>
          <p:cNvSpPr/>
          <p:nvPr/>
        </p:nvSpPr>
        <p:spPr>
          <a:xfrm>
            <a:off x="0" y="4663440"/>
            <a:ext cx="9144000" cy="480060"/>
          </a:xfrm>
          <a:prstGeom prst="rect">
            <a:avLst/>
          </a:prstGeom>
          <a:solidFill>
            <a:srgbClr val="052E31"/>
          </a:solidFill>
          <a:ln w="12700">
            <a:solidFill>
              <a:srgbClr val="052E31"/>
            </a:solidFill>
            <a:prstDash val="solid"/>
          </a:ln>
        </p:spPr>
      </p:sp>
      <p:sp>
        <p:nvSpPr>
          <p:cNvPr id="10" name="Text 8"/>
          <p:cNvSpPr/>
          <p:nvPr/>
        </p:nvSpPr>
        <p:spPr>
          <a:xfrm>
            <a:off x="411480" y="4709160"/>
            <a:ext cx="8229600" cy="347472"/>
          </a:xfrm>
          <a:prstGeom prst="rect">
            <a:avLst/>
          </a:prstGeom>
          <a:noFill/>
          <a:ln/>
        </p:spPr>
        <p:txBody>
          <a:bodyPr wrap="square" lIns="0" tIns="0" rIns="0" bIns="0" rtlCol="0" anchor="ctr"/>
          <a:lstStyle/>
          <a:p>
            <a:pPr indent="0" marL="0">
              <a:buNone/>
            </a:pPr>
            <a:r>
              <a:rPr lang="en-US" sz="900" dirty="0">
                <a:solidFill>
                  <a:srgbClr val="7AADAB"/>
                </a:solidFill>
              </a:rPr>
              <a:t>CarePath Health  ·  Maryland Healthcare Platform  ·  Confidential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7F6"/>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73F43"/>
          </a:solidFill>
          <a:ln w="12700">
            <a:solidFill>
              <a:srgbClr val="073F43"/>
            </a:solidFill>
            <a:prstDash val="solid"/>
          </a:ln>
        </p:spPr>
      </p:sp>
      <p:sp>
        <p:nvSpPr>
          <p:cNvPr id="3" name="Text 1"/>
          <p:cNvSpPr/>
          <p:nvPr/>
        </p:nvSpPr>
        <p:spPr>
          <a:xfrm>
            <a:off x="457200" y="54864"/>
            <a:ext cx="8229600" cy="274320"/>
          </a:xfrm>
          <a:prstGeom prst="rect">
            <a:avLst/>
          </a:prstGeom>
          <a:noFill/>
          <a:ln/>
        </p:spPr>
        <p:txBody>
          <a:bodyPr wrap="square" lIns="0" tIns="0" rIns="0" bIns="0" rtlCol="0" anchor="ctr"/>
          <a:lstStyle/>
          <a:p>
            <a:pPr indent="0" marL="0">
              <a:buNone/>
            </a:pPr>
            <a:r>
              <a:rPr lang="en-US" sz="900" b="1" spc="400" kern="0" dirty="0">
                <a:solidFill>
                  <a:srgbClr val="D9EFF0"/>
                </a:solidFill>
              </a:rPr>
              <a:t>THE PROBLEM</a:t>
            </a:r>
            <a:endParaRPr lang="en-US" sz="900" dirty="0"/>
          </a:p>
        </p:txBody>
      </p:sp>
      <p:sp>
        <p:nvSpPr>
          <p:cNvPr id="4" name="Text 2"/>
          <p:cNvSpPr/>
          <p:nvPr/>
        </p:nvSpPr>
        <p:spPr>
          <a:xfrm>
            <a:off x="457200" y="384048"/>
            <a:ext cx="8229600" cy="521208"/>
          </a:xfrm>
          <a:prstGeom prst="rect">
            <a:avLst/>
          </a:prstGeom>
          <a:noFill/>
          <a:ln/>
        </p:spPr>
        <p:txBody>
          <a:bodyPr wrap="square" lIns="0" tIns="0" rIns="0" bIns="0" rtlCol="0" anchor="ctr"/>
          <a:lstStyle/>
          <a:p>
            <a:pPr indent="0" marL="0">
              <a:buNone/>
            </a:pPr>
            <a:r>
              <a:rPr lang="en-US" sz="1700" b="1" dirty="0">
                <a:solidFill>
                  <a:srgbClr val="FFFFFF"/>
                </a:solidFill>
              </a:rPr>
              <a:t>Hospital readmissions are the most costly, most preventable failure in post-acute care.</a:t>
            </a:r>
            <a:endParaRPr lang="en-US" sz="1700" dirty="0"/>
          </a:p>
        </p:txBody>
      </p:sp>
      <p:sp>
        <p:nvSpPr>
          <p:cNvPr id="5" name="Shape 3"/>
          <p:cNvSpPr/>
          <p:nvPr/>
        </p:nvSpPr>
        <p:spPr>
          <a:xfrm>
            <a:off x="320040" y="1143000"/>
            <a:ext cx="2651760" cy="2514600"/>
          </a:xfrm>
          <a:prstGeom prst="rect">
            <a:avLst/>
          </a:prstGeom>
          <a:solidFill>
            <a:srgbClr val="FFFFFF"/>
          </a:solidFill>
          <a:ln w="12700">
            <a:solidFill>
              <a:srgbClr val="CBD6D3"/>
            </a:solidFill>
            <a:prstDash val="solid"/>
          </a:ln>
          <a:effectLst>
            <a:outerShdw sx="100000" sy="100000" kx="0" ky="0" algn="bl" rotWithShape="0" blurRad="101600" dist="25400" dir="8100000">
              <a:srgbClr val="000000">
                <a:alpha val="9000"/>
              </a:srgbClr>
            </a:outerShdw>
          </a:effectLst>
        </p:spPr>
      </p:sp>
      <p:sp>
        <p:nvSpPr>
          <p:cNvPr id="6" name="Shape 4"/>
          <p:cNvSpPr/>
          <p:nvPr/>
        </p:nvSpPr>
        <p:spPr>
          <a:xfrm>
            <a:off x="320040" y="1143000"/>
            <a:ext cx="2651760" cy="82296"/>
          </a:xfrm>
          <a:prstGeom prst="rect">
            <a:avLst/>
          </a:prstGeom>
          <a:solidFill>
            <a:srgbClr val="C65323"/>
          </a:solidFill>
          <a:ln w="12700">
            <a:solidFill>
              <a:srgbClr val="C65323"/>
            </a:solidFill>
            <a:prstDash val="solid"/>
          </a:ln>
        </p:spPr>
      </p:sp>
      <p:sp>
        <p:nvSpPr>
          <p:cNvPr id="7" name="Text 5"/>
          <p:cNvSpPr/>
          <p:nvPr/>
        </p:nvSpPr>
        <p:spPr>
          <a:xfrm>
            <a:off x="411480" y="1298448"/>
            <a:ext cx="2468880" cy="886968"/>
          </a:xfrm>
          <a:prstGeom prst="rect">
            <a:avLst/>
          </a:prstGeom>
          <a:noFill/>
          <a:ln/>
        </p:spPr>
        <p:txBody>
          <a:bodyPr wrap="square" lIns="0" tIns="0" rIns="0" bIns="0" rtlCol="0" anchor="ctr"/>
          <a:lstStyle/>
          <a:p>
            <a:pPr algn="ctr" indent="0" marL="0">
              <a:buNone/>
            </a:pPr>
            <a:r>
              <a:rPr lang="en-US" sz="4800" b="1" dirty="0">
                <a:solidFill>
                  <a:srgbClr val="C65323"/>
                </a:solidFill>
                <a:latin typeface="Calibri" pitchFamily="34" charset="0"/>
                <a:ea typeface="Calibri" pitchFamily="34" charset="-122"/>
                <a:cs typeface="Calibri" pitchFamily="34" charset="-120"/>
              </a:rPr>
              <a:t>$52.4B</a:t>
            </a:r>
            <a:endParaRPr lang="en-US" sz="4800" dirty="0"/>
          </a:p>
        </p:txBody>
      </p:sp>
      <p:sp>
        <p:nvSpPr>
          <p:cNvPr id="8" name="Text 6"/>
          <p:cNvSpPr/>
          <p:nvPr/>
        </p:nvSpPr>
        <p:spPr>
          <a:xfrm>
            <a:off x="411480" y="2240280"/>
            <a:ext cx="2468880" cy="658368"/>
          </a:xfrm>
          <a:prstGeom prst="rect">
            <a:avLst/>
          </a:prstGeom>
          <a:noFill/>
          <a:ln/>
        </p:spPr>
        <p:txBody>
          <a:bodyPr wrap="square" lIns="0" tIns="0" rIns="0" bIns="0" rtlCol="0" anchor="ctr"/>
          <a:lstStyle/>
          <a:p>
            <a:pPr algn="ctr" indent="0" marL="0">
              <a:buNone/>
            </a:pPr>
            <a:r>
              <a:rPr lang="en-US" sz="1150" b="1" dirty="0">
                <a:solidFill>
                  <a:srgbClr val="172525"/>
                </a:solidFill>
              </a:rPr>
              <a:t>Annual cost of 30-day readmissions</a:t>
            </a:r>
            <a:endParaRPr lang="en-US" sz="1150" dirty="0"/>
          </a:p>
          <a:p>
            <a:pPr algn="ctr" indent="0" marL="0">
              <a:buNone/>
            </a:pPr>
            <a:r>
              <a:rPr lang="en-US" sz="1150" b="1" dirty="0">
                <a:solidFill>
                  <a:srgbClr val="172525"/>
                </a:solidFill>
              </a:rPr>
              <a:t>across all US payers</a:t>
            </a:r>
            <a:endParaRPr lang="en-US" sz="1150" dirty="0"/>
          </a:p>
        </p:txBody>
      </p:sp>
      <p:sp>
        <p:nvSpPr>
          <p:cNvPr id="9" name="Text 7"/>
          <p:cNvSpPr/>
          <p:nvPr/>
        </p:nvSpPr>
        <p:spPr>
          <a:xfrm>
            <a:off x="411480" y="2944368"/>
            <a:ext cx="2468880" cy="502920"/>
          </a:xfrm>
          <a:prstGeom prst="rect">
            <a:avLst/>
          </a:prstGeom>
          <a:noFill/>
          <a:ln/>
        </p:spPr>
        <p:txBody>
          <a:bodyPr wrap="square" lIns="0" tIns="0" rIns="0" bIns="0" rtlCol="0" anchor="ctr"/>
          <a:lstStyle/>
          <a:p>
            <a:pPr algn="ctr" indent="0" marL="0">
              <a:buNone/>
            </a:pPr>
            <a:r>
              <a:rPr lang="en-US" sz="1000" i="1" dirty="0">
                <a:solidFill>
                  <a:srgbClr val="60706E"/>
                </a:solidFill>
              </a:rPr>
              <a:t>Average readmission cost: $15,200 per episode</a:t>
            </a:r>
            <a:endParaRPr lang="en-US" sz="1000" dirty="0"/>
          </a:p>
        </p:txBody>
      </p:sp>
      <p:sp>
        <p:nvSpPr>
          <p:cNvPr id="10" name="Shape 8"/>
          <p:cNvSpPr/>
          <p:nvPr/>
        </p:nvSpPr>
        <p:spPr>
          <a:xfrm>
            <a:off x="3246120" y="1143000"/>
            <a:ext cx="2651760" cy="2514600"/>
          </a:xfrm>
          <a:prstGeom prst="rect">
            <a:avLst/>
          </a:prstGeom>
          <a:solidFill>
            <a:srgbClr val="FFFFFF"/>
          </a:solidFill>
          <a:ln w="12700">
            <a:solidFill>
              <a:srgbClr val="CBD6D3"/>
            </a:solidFill>
            <a:prstDash val="solid"/>
          </a:ln>
          <a:effectLst>
            <a:outerShdw sx="100000" sy="100000" kx="0" ky="0" algn="bl" rotWithShape="0" blurRad="101600" dist="25400" dir="8100000">
              <a:srgbClr val="000000">
                <a:alpha val="9000"/>
              </a:srgbClr>
            </a:outerShdw>
          </a:effectLst>
        </p:spPr>
      </p:sp>
      <p:sp>
        <p:nvSpPr>
          <p:cNvPr id="11" name="Shape 9"/>
          <p:cNvSpPr/>
          <p:nvPr/>
        </p:nvSpPr>
        <p:spPr>
          <a:xfrm>
            <a:off x="3246120" y="1143000"/>
            <a:ext cx="2651760" cy="82296"/>
          </a:xfrm>
          <a:prstGeom prst="rect">
            <a:avLst/>
          </a:prstGeom>
          <a:solidFill>
            <a:srgbClr val="08737B"/>
          </a:solidFill>
          <a:ln w="12700">
            <a:solidFill>
              <a:srgbClr val="08737B"/>
            </a:solidFill>
            <a:prstDash val="solid"/>
          </a:ln>
        </p:spPr>
      </p:sp>
      <p:sp>
        <p:nvSpPr>
          <p:cNvPr id="12" name="Text 10"/>
          <p:cNvSpPr/>
          <p:nvPr/>
        </p:nvSpPr>
        <p:spPr>
          <a:xfrm>
            <a:off x="3337560" y="1298448"/>
            <a:ext cx="2468880" cy="886968"/>
          </a:xfrm>
          <a:prstGeom prst="rect">
            <a:avLst/>
          </a:prstGeom>
          <a:noFill/>
          <a:ln/>
        </p:spPr>
        <p:txBody>
          <a:bodyPr wrap="square" lIns="0" tIns="0" rIns="0" bIns="0" rtlCol="0" anchor="ctr"/>
          <a:lstStyle/>
          <a:p>
            <a:pPr algn="ctr" indent="0" marL="0">
              <a:buNone/>
            </a:pPr>
            <a:r>
              <a:rPr lang="en-US" sz="4800" b="1" dirty="0">
                <a:solidFill>
                  <a:srgbClr val="08737B"/>
                </a:solidFill>
                <a:latin typeface="Calibri" pitchFamily="34" charset="0"/>
                <a:ea typeface="Calibri" pitchFamily="34" charset="-122"/>
                <a:cs typeface="Calibri" pitchFamily="34" charset="-120"/>
              </a:rPr>
              <a:t>3.8M</a:t>
            </a:r>
            <a:endParaRPr lang="en-US" sz="4800" dirty="0"/>
          </a:p>
        </p:txBody>
      </p:sp>
      <p:sp>
        <p:nvSpPr>
          <p:cNvPr id="13" name="Text 11"/>
          <p:cNvSpPr/>
          <p:nvPr/>
        </p:nvSpPr>
        <p:spPr>
          <a:xfrm>
            <a:off x="3337560" y="2240280"/>
            <a:ext cx="2468880" cy="658368"/>
          </a:xfrm>
          <a:prstGeom prst="rect">
            <a:avLst/>
          </a:prstGeom>
          <a:noFill/>
          <a:ln/>
        </p:spPr>
        <p:txBody>
          <a:bodyPr wrap="square" lIns="0" tIns="0" rIns="0" bIns="0" rtlCol="0" anchor="ctr"/>
          <a:lstStyle/>
          <a:p>
            <a:pPr algn="ctr" indent="0" marL="0">
              <a:buNone/>
            </a:pPr>
            <a:r>
              <a:rPr lang="en-US" sz="1150" b="1" dirty="0">
                <a:solidFill>
                  <a:srgbClr val="172525"/>
                </a:solidFill>
              </a:rPr>
              <a:t>Adults readmitted to hospital</a:t>
            </a:r>
            <a:endParaRPr lang="en-US" sz="1150" dirty="0"/>
          </a:p>
          <a:p>
            <a:pPr algn="ctr" indent="0" marL="0">
              <a:buNone/>
            </a:pPr>
            <a:r>
              <a:rPr lang="en-US" sz="1150" b="1" dirty="0">
                <a:solidFill>
                  <a:srgbClr val="172525"/>
                </a:solidFill>
              </a:rPr>
              <a:t>every year in the United States</a:t>
            </a:r>
            <a:endParaRPr lang="en-US" sz="1150" dirty="0"/>
          </a:p>
        </p:txBody>
      </p:sp>
      <p:sp>
        <p:nvSpPr>
          <p:cNvPr id="14" name="Text 12"/>
          <p:cNvSpPr/>
          <p:nvPr/>
        </p:nvSpPr>
        <p:spPr>
          <a:xfrm>
            <a:off x="3337560" y="2944368"/>
            <a:ext cx="2468880" cy="502920"/>
          </a:xfrm>
          <a:prstGeom prst="rect">
            <a:avLst/>
          </a:prstGeom>
          <a:noFill/>
          <a:ln/>
        </p:spPr>
        <p:txBody>
          <a:bodyPr wrap="square" lIns="0" tIns="0" rIns="0" bIns="0" rtlCol="0" anchor="ctr"/>
          <a:lstStyle/>
          <a:p>
            <a:pPr algn="ctr" indent="0" marL="0">
              <a:buNone/>
            </a:pPr>
            <a:r>
              <a:rPr lang="en-US" sz="1000" i="1" dirty="0">
                <a:solidFill>
                  <a:srgbClr val="60706E"/>
                </a:solidFill>
              </a:rPr>
              <a:t>20% of Medicare patients within 30 days</a:t>
            </a:r>
            <a:endParaRPr lang="en-US" sz="1000" dirty="0"/>
          </a:p>
        </p:txBody>
      </p:sp>
      <p:sp>
        <p:nvSpPr>
          <p:cNvPr id="15" name="Shape 13"/>
          <p:cNvSpPr/>
          <p:nvPr/>
        </p:nvSpPr>
        <p:spPr>
          <a:xfrm>
            <a:off x="6172200" y="1143000"/>
            <a:ext cx="2651760" cy="2514600"/>
          </a:xfrm>
          <a:prstGeom prst="rect">
            <a:avLst/>
          </a:prstGeom>
          <a:solidFill>
            <a:srgbClr val="FFFFFF"/>
          </a:solidFill>
          <a:ln w="12700">
            <a:solidFill>
              <a:srgbClr val="CBD6D3"/>
            </a:solidFill>
            <a:prstDash val="solid"/>
          </a:ln>
          <a:effectLst>
            <a:outerShdw sx="100000" sy="100000" kx="0" ky="0" algn="bl" rotWithShape="0" blurRad="101600" dist="25400" dir="8100000">
              <a:srgbClr val="000000">
                <a:alpha val="9000"/>
              </a:srgbClr>
            </a:outerShdw>
          </a:effectLst>
        </p:spPr>
      </p:sp>
      <p:sp>
        <p:nvSpPr>
          <p:cNvPr id="16" name="Shape 14"/>
          <p:cNvSpPr/>
          <p:nvPr/>
        </p:nvSpPr>
        <p:spPr>
          <a:xfrm>
            <a:off x="6172200" y="1143000"/>
            <a:ext cx="2651760" cy="82296"/>
          </a:xfrm>
          <a:prstGeom prst="rect">
            <a:avLst/>
          </a:prstGeom>
          <a:solidFill>
            <a:srgbClr val="24734F"/>
          </a:solidFill>
          <a:ln w="12700">
            <a:solidFill>
              <a:srgbClr val="24734F"/>
            </a:solidFill>
            <a:prstDash val="solid"/>
          </a:ln>
        </p:spPr>
      </p:sp>
      <p:sp>
        <p:nvSpPr>
          <p:cNvPr id="17" name="Text 15"/>
          <p:cNvSpPr/>
          <p:nvPr/>
        </p:nvSpPr>
        <p:spPr>
          <a:xfrm>
            <a:off x="6263640" y="1298448"/>
            <a:ext cx="2468880" cy="886968"/>
          </a:xfrm>
          <a:prstGeom prst="rect">
            <a:avLst/>
          </a:prstGeom>
          <a:noFill/>
          <a:ln/>
        </p:spPr>
        <p:txBody>
          <a:bodyPr wrap="square" lIns="0" tIns="0" rIns="0" bIns="0" rtlCol="0" anchor="ctr"/>
          <a:lstStyle/>
          <a:p>
            <a:pPr algn="ctr" indent="0" marL="0">
              <a:buNone/>
            </a:pPr>
            <a:r>
              <a:rPr lang="en-US" sz="4800" b="1" dirty="0">
                <a:solidFill>
                  <a:srgbClr val="24734F"/>
                </a:solidFill>
                <a:latin typeface="Calibri" pitchFamily="34" charset="0"/>
                <a:ea typeface="Calibri" pitchFamily="34" charset="-122"/>
                <a:cs typeface="Calibri" pitchFamily="34" charset="-120"/>
              </a:rPr>
              <a:t>27%</a:t>
            </a:r>
            <a:endParaRPr lang="en-US" sz="4800" dirty="0"/>
          </a:p>
        </p:txBody>
      </p:sp>
      <p:sp>
        <p:nvSpPr>
          <p:cNvPr id="18" name="Text 16"/>
          <p:cNvSpPr/>
          <p:nvPr/>
        </p:nvSpPr>
        <p:spPr>
          <a:xfrm>
            <a:off x="6263640" y="2240280"/>
            <a:ext cx="2468880" cy="658368"/>
          </a:xfrm>
          <a:prstGeom prst="rect">
            <a:avLst/>
          </a:prstGeom>
          <a:noFill/>
          <a:ln/>
        </p:spPr>
        <p:txBody>
          <a:bodyPr wrap="square" lIns="0" tIns="0" rIns="0" bIns="0" rtlCol="0" anchor="ctr"/>
          <a:lstStyle/>
          <a:p>
            <a:pPr algn="ctr" indent="0" marL="0">
              <a:buNone/>
            </a:pPr>
            <a:r>
              <a:rPr lang="en-US" sz="1150" b="1" dirty="0">
                <a:solidFill>
                  <a:srgbClr val="172525"/>
                </a:solidFill>
              </a:rPr>
              <a:t>Of all readmissions are</a:t>
            </a:r>
            <a:endParaRPr lang="en-US" sz="1150" dirty="0"/>
          </a:p>
          <a:p>
            <a:pPr algn="ctr" indent="0" marL="0">
              <a:buNone/>
            </a:pPr>
            <a:r>
              <a:rPr lang="en-US" sz="1150" b="1" dirty="0">
                <a:solidFill>
                  <a:srgbClr val="172525"/>
                </a:solidFill>
              </a:rPr>
              <a:t>preventable per peer-reviewed studies</a:t>
            </a:r>
            <a:endParaRPr lang="en-US" sz="1150" dirty="0"/>
          </a:p>
        </p:txBody>
      </p:sp>
      <p:sp>
        <p:nvSpPr>
          <p:cNvPr id="19" name="Text 17"/>
          <p:cNvSpPr/>
          <p:nvPr/>
        </p:nvSpPr>
        <p:spPr>
          <a:xfrm>
            <a:off x="6263640" y="2944368"/>
            <a:ext cx="2468880" cy="502920"/>
          </a:xfrm>
          <a:prstGeom prst="rect">
            <a:avLst/>
          </a:prstGeom>
          <a:noFill/>
          <a:ln/>
        </p:spPr>
        <p:txBody>
          <a:bodyPr wrap="square" lIns="0" tIns="0" rIns="0" bIns="0" rtlCol="0" anchor="ctr"/>
          <a:lstStyle/>
          <a:p>
            <a:pPr algn="ctr" indent="0" marL="0">
              <a:buNone/>
            </a:pPr>
            <a:r>
              <a:rPr lang="en-US" sz="1000" i="1" dirty="0">
                <a:solidFill>
                  <a:srgbClr val="60706E"/>
                </a:solidFill>
              </a:rPr>
              <a:t>The gap: discharge instructions vs. home reality</a:t>
            </a:r>
            <a:endParaRPr lang="en-US" sz="1000" dirty="0"/>
          </a:p>
        </p:txBody>
      </p:sp>
      <p:sp>
        <p:nvSpPr>
          <p:cNvPr id="20" name="Shape 18"/>
          <p:cNvSpPr/>
          <p:nvPr/>
        </p:nvSpPr>
        <p:spPr>
          <a:xfrm>
            <a:off x="274320" y="3867912"/>
            <a:ext cx="8595360" cy="914400"/>
          </a:xfrm>
          <a:prstGeom prst="rect">
            <a:avLst/>
          </a:prstGeom>
          <a:solidFill>
            <a:srgbClr val="FFF0E8"/>
          </a:solidFill>
          <a:ln w="12700">
            <a:solidFill>
              <a:srgbClr val="F5C9B5"/>
            </a:solidFill>
            <a:prstDash val="solid"/>
          </a:ln>
        </p:spPr>
      </p:sp>
      <p:sp>
        <p:nvSpPr>
          <p:cNvPr id="21" name="Shape 19"/>
          <p:cNvSpPr/>
          <p:nvPr/>
        </p:nvSpPr>
        <p:spPr>
          <a:xfrm>
            <a:off x="274320" y="3867912"/>
            <a:ext cx="91440" cy="914400"/>
          </a:xfrm>
          <a:prstGeom prst="rect">
            <a:avLst/>
          </a:prstGeom>
          <a:solidFill>
            <a:srgbClr val="C65323"/>
          </a:solidFill>
          <a:ln w="12700">
            <a:solidFill>
              <a:srgbClr val="C65323"/>
            </a:solidFill>
            <a:prstDash val="solid"/>
          </a:ln>
        </p:spPr>
      </p:sp>
      <p:sp>
        <p:nvSpPr>
          <p:cNvPr id="22" name="Text 20"/>
          <p:cNvSpPr/>
          <p:nvPr/>
        </p:nvSpPr>
        <p:spPr>
          <a:xfrm>
            <a:off x="502920" y="3931920"/>
            <a:ext cx="8229600" cy="777240"/>
          </a:xfrm>
          <a:prstGeom prst="rect">
            <a:avLst/>
          </a:prstGeom>
          <a:noFill/>
          <a:ln/>
        </p:spPr>
        <p:txBody>
          <a:bodyPr wrap="square" lIns="0" tIns="0" rIns="0" bIns="0" rtlCol="0" anchor="ctr"/>
          <a:lstStyle/>
          <a:p>
            <a:pPr indent="0" marL="0">
              <a:buNone/>
            </a:pPr>
            <a:r>
              <a:rPr lang="en-US" sz="1050" b="1" dirty="0">
                <a:solidFill>
                  <a:srgbClr val="C65323"/>
                </a:solidFill>
              </a:rPr>
              <a:t>1 in 5 patients</a:t>
            </a:r>
            <a:pPr indent="0" marL="0">
              <a:buNone/>
            </a:pPr>
            <a:r>
              <a:rPr lang="en-US" sz="1050" dirty="0">
                <a:solidFill>
                  <a:srgbClr val="172525"/>
                </a:solidFill>
              </a:rPr>
              <a:t> experiences a preventable adverse event after discharge  ·  </a:t>
            </a:r>
            <a:pPr indent="0" marL="0">
              <a:buNone/>
            </a:pPr>
            <a:r>
              <a:rPr lang="en-US" sz="1050" b="1" dirty="0">
                <a:solidFill>
                  <a:srgbClr val="C65323"/>
                </a:solidFill>
              </a:rPr>
              <a:t>Half of readmissions</a:t>
            </a:r>
            <a:pPr indent="0" marL="0">
              <a:buNone/>
            </a:pPr>
            <a:r>
              <a:rPr lang="en-US" sz="1050" dirty="0">
                <a:solidFill>
                  <a:srgbClr val="172525"/>
                </a:solidFill>
              </a:rPr>
              <a:t> stem from patients not understanding discharge instructions  ·  </a:t>
            </a:r>
            <a:pPr indent="0" marL="0">
              <a:buNone/>
            </a:pPr>
            <a:r>
              <a:rPr lang="en-US" sz="1050" b="1" dirty="0">
                <a:solidFill>
                  <a:srgbClr val="C65323"/>
                </a:solidFill>
              </a:rPr>
              <a:t>Up to 3%</a:t>
            </a:r>
            <a:pPr indent="0" marL="0">
              <a:buNone/>
            </a:pPr>
            <a:r>
              <a:rPr lang="en-US" sz="1050" dirty="0">
                <a:solidFill>
                  <a:srgbClr val="172525"/>
                </a:solidFill>
              </a:rPr>
              <a:t> CMS penalty on all Medicare reimbursements for excess readmissions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7F6"/>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73F43"/>
          </a:solidFill>
          <a:ln w="12700">
            <a:solidFill>
              <a:srgbClr val="073F43"/>
            </a:solidFill>
            <a:prstDash val="solid"/>
          </a:ln>
        </p:spPr>
      </p:sp>
      <p:sp>
        <p:nvSpPr>
          <p:cNvPr id="3" name="Text 1"/>
          <p:cNvSpPr/>
          <p:nvPr/>
        </p:nvSpPr>
        <p:spPr>
          <a:xfrm>
            <a:off x="457200" y="54864"/>
            <a:ext cx="8229600" cy="274320"/>
          </a:xfrm>
          <a:prstGeom prst="rect">
            <a:avLst/>
          </a:prstGeom>
          <a:noFill/>
          <a:ln/>
        </p:spPr>
        <p:txBody>
          <a:bodyPr wrap="square" lIns="0" tIns="0" rIns="0" bIns="0" rtlCol="0" anchor="ctr"/>
          <a:lstStyle/>
          <a:p>
            <a:pPr indent="0" marL="0">
              <a:buNone/>
            </a:pPr>
            <a:r>
              <a:rPr lang="en-US" sz="900" b="1" spc="400" kern="0" dirty="0">
                <a:solidFill>
                  <a:srgbClr val="D9EFF0"/>
                </a:solidFill>
              </a:rPr>
              <a:t>THE 30-DAY CARE GAP</a:t>
            </a:r>
            <a:endParaRPr lang="en-US" sz="900" dirty="0"/>
          </a:p>
        </p:txBody>
      </p:sp>
      <p:sp>
        <p:nvSpPr>
          <p:cNvPr id="4" name="Text 2"/>
          <p:cNvSpPr/>
          <p:nvPr/>
        </p:nvSpPr>
        <p:spPr>
          <a:xfrm>
            <a:off x="457200" y="384048"/>
            <a:ext cx="8229600" cy="521208"/>
          </a:xfrm>
          <a:prstGeom prst="rect">
            <a:avLst/>
          </a:prstGeom>
          <a:noFill/>
          <a:ln/>
        </p:spPr>
        <p:txBody>
          <a:bodyPr wrap="square" lIns="0" tIns="0" rIns="0" bIns="0" rtlCol="0" anchor="ctr"/>
          <a:lstStyle/>
          <a:p>
            <a:pPr indent="0" marL="0">
              <a:buNone/>
            </a:pPr>
            <a:r>
              <a:rPr lang="en-US" sz="1700" b="1" dirty="0">
                <a:solidFill>
                  <a:srgbClr val="FFFFFF"/>
                </a:solidFill>
              </a:rPr>
              <a:t>Instructions given once. Recovery happens at home. Risk compounds quickly.</a:t>
            </a:r>
            <a:endParaRPr lang="en-US" sz="1700" dirty="0"/>
          </a:p>
        </p:txBody>
      </p:sp>
      <p:sp>
        <p:nvSpPr>
          <p:cNvPr id="5" name="Shape 3"/>
          <p:cNvSpPr/>
          <p:nvPr/>
        </p:nvSpPr>
        <p:spPr>
          <a:xfrm>
            <a:off x="274320" y="1097280"/>
            <a:ext cx="2011680" cy="3822192"/>
          </a:xfrm>
          <a:prstGeom prst="rect">
            <a:avLst/>
          </a:prstGeom>
          <a:solidFill>
            <a:srgbClr val="FFFFFF"/>
          </a:solidFill>
          <a:ln w="12700">
            <a:solidFill>
              <a:srgbClr val="CBD6D3"/>
            </a:solidFill>
            <a:prstDash val="solid"/>
          </a:ln>
          <a:effectLst>
            <a:outerShdw sx="100000" sy="100000" kx="0" ky="0" algn="bl" rotWithShape="0" blurRad="101600" dist="25400" dir="8100000">
              <a:srgbClr val="000000">
                <a:alpha val="9000"/>
              </a:srgbClr>
            </a:outerShdw>
          </a:effectLst>
        </p:spPr>
      </p:sp>
      <p:sp>
        <p:nvSpPr>
          <p:cNvPr id="6" name="Shape 4"/>
          <p:cNvSpPr/>
          <p:nvPr/>
        </p:nvSpPr>
        <p:spPr>
          <a:xfrm>
            <a:off x="274320" y="1097280"/>
            <a:ext cx="2011680" cy="475488"/>
          </a:xfrm>
          <a:prstGeom prst="rect">
            <a:avLst/>
          </a:prstGeom>
          <a:solidFill>
            <a:srgbClr val="08737B"/>
          </a:solidFill>
          <a:ln w="12700">
            <a:solidFill>
              <a:srgbClr val="08737B"/>
            </a:solidFill>
            <a:prstDash val="solid"/>
          </a:ln>
        </p:spPr>
      </p:sp>
      <p:sp>
        <p:nvSpPr>
          <p:cNvPr id="7" name="Text 5"/>
          <p:cNvSpPr/>
          <p:nvPr/>
        </p:nvSpPr>
        <p:spPr>
          <a:xfrm>
            <a:off x="347472" y="1115568"/>
            <a:ext cx="1865376" cy="438912"/>
          </a:xfrm>
          <a:prstGeom prst="rect">
            <a:avLst/>
          </a:prstGeom>
          <a:noFill/>
          <a:ln/>
        </p:spPr>
        <p:txBody>
          <a:bodyPr wrap="square" lIns="0" tIns="0" rIns="0" bIns="0" rtlCol="0" anchor="ctr"/>
          <a:lstStyle/>
          <a:p>
            <a:pPr algn="ctr" indent="0" marL="0">
              <a:buNone/>
            </a:pPr>
            <a:r>
              <a:rPr lang="en-US" sz="1050" b="1" dirty="0">
                <a:solidFill>
                  <a:srgbClr val="FFFFFF"/>
                </a:solidFill>
              </a:rPr>
              <a:t>Discharge Complexity</a:t>
            </a:r>
            <a:endParaRPr lang="en-US" sz="1050" dirty="0"/>
          </a:p>
        </p:txBody>
      </p:sp>
      <p:sp>
        <p:nvSpPr>
          <p:cNvPr id="8" name="Text 6"/>
          <p:cNvSpPr/>
          <p:nvPr/>
        </p:nvSpPr>
        <p:spPr>
          <a:xfrm>
            <a:off x="365760" y="1645920"/>
            <a:ext cx="1847088" cy="315468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72525"/>
                </a:solidFill>
              </a:rPr>
              <a:t>Average patient leaves with 9+ medications</a:t>
            </a:r>
            <a:endParaRPr lang="en-US" sz="950" dirty="0"/>
          </a:p>
          <a:p>
            <a:pPr marL="342900" indent="-342900">
              <a:spcAft>
                <a:spcPts val="400"/>
              </a:spcAft>
              <a:buSzPct val="100000"/>
              <a:buChar char="•"/>
            </a:pPr>
            <a:r>
              <a:rPr lang="en-US" sz="950" dirty="0">
                <a:solidFill>
                  <a:srgbClr val="172525"/>
                </a:solidFill>
              </a:rPr>
              <a:t>Multiple provider follow-ups scheduled at once</a:t>
            </a:r>
            <a:endParaRPr lang="en-US" sz="950" dirty="0"/>
          </a:p>
          <a:p>
            <a:pPr marL="342900" indent="-342900">
              <a:spcAft>
                <a:spcPts val="400"/>
              </a:spcAft>
              <a:buSzPct val="100000"/>
              <a:buChar char="•"/>
            </a:pPr>
            <a:r>
              <a:rPr lang="en-US" sz="950" dirty="0">
                <a:solidFill>
                  <a:srgbClr val="172525"/>
                </a:solidFill>
              </a:rPr>
              <a:t>Diet, activity and wound-care restrictions</a:t>
            </a:r>
            <a:endParaRPr lang="en-US" sz="950" dirty="0"/>
          </a:p>
          <a:p>
            <a:pPr marL="342900" indent="-342900">
              <a:spcAft>
                <a:spcPts val="400"/>
              </a:spcAft>
              <a:buSzPct val="100000"/>
              <a:buChar char="•"/>
            </a:pPr>
            <a:r>
              <a:rPr lang="en-US" sz="950" dirty="0">
                <a:solidFill>
                  <a:srgbClr val="172525"/>
                </a:solidFill>
              </a:rPr>
              <a:t>Warning signs requiring urgent escalation</a:t>
            </a:r>
            <a:endParaRPr lang="en-US" sz="950" dirty="0"/>
          </a:p>
          <a:p>
            <a:pPr marL="342900" indent="-342900">
              <a:spcAft>
                <a:spcPts val="400"/>
              </a:spcAft>
              <a:buSzPct val="100000"/>
              <a:buChar char="•"/>
            </a:pPr>
            <a:r>
              <a:rPr lang="en-US" sz="950" dirty="0">
                <a:solidFill>
                  <a:srgbClr val="172525"/>
                </a:solidFill>
              </a:rPr>
              <a:t>Instructions received under stress and fatigue</a:t>
            </a:r>
            <a:endParaRPr lang="en-US" sz="950" dirty="0"/>
          </a:p>
          <a:p>
            <a:pPr marL="342900" indent="-342900">
              <a:spcAft>
                <a:spcPts val="400"/>
              </a:spcAft>
              <a:buSzPct val="100000"/>
              <a:buChar char="•"/>
            </a:pPr>
            <a:r>
              <a:rPr lang="en-US" sz="950" dirty="0">
                <a:solidFill>
                  <a:srgbClr val="172525"/>
                </a:solidFill>
              </a:rPr>
              <a:t>No follow-up scheduled before patient leaves</a:t>
            </a:r>
            <a:endParaRPr lang="en-US" sz="950" dirty="0"/>
          </a:p>
        </p:txBody>
      </p:sp>
      <p:sp>
        <p:nvSpPr>
          <p:cNvPr id="9" name="Shape 7"/>
          <p:cNvSpPr/>
          <p:nvPr/>
        </p:nvSpPr>
        <p:spPr>
          <a:xfrm>
            <a:off x="2450592" y="1097280"/>
            <a:ext cx="2011680" cy="3822192"/>
          </a:xfrm>
          <a:prstGeom prst="rect">
            <a:avLst/>
          </a:prstGeom>
          <a:solidFill>
            <a:srgbClr val="FFFFFF"/>
          </a:solidFill>
          <a:ln w="12700">
            <a:solidFill>
              <a:srgbClr val="CBD6D3"/>
            </a:solidFill>
            <a:prstDash val="solid"/>
          </a:ln>
          <a:effectLst>
            <a:outerShdw sx="100000" sy="100000" kx="0" ky="0" algn="bl" rotWithShape="0" blurRad="101600" dist="25400" dir="8100000">
              <a:srgbClr val="000000">
                <a:alpha val="9000"/>
              </a:srgbClr>
            </a:outerShdw>
          </a:effectLst>
        </p:spPr>
      </p:sp>
      <p:sp>
        <p:nvSpPr>
          <p:cNvPr id="10" name="Shape 8"/>
          <p:cNvSpPr/>
          <p:nvPr/>
        </p:nvSpPr>
        <p:spPr>
          <a:xfrm>
            <a:off x="2450592" y="1097280"/>
            <a:ext cx="2011680" cy="475488"/>
          </a:xfrm>
          <a:prstGeom prst="rect">
            <a:avLst/>
          </a:prstGeom>
          <a:solidFill>
            <a:srgbClr val="C65323"/>
          </a:solidFill>
          <a:ln w="12700">
            <a:solidFill>
              <a:srgbClr val="C65323"/>
            </a:solidFill>
            <a:prstDash val="solid"/>
          </a:ln>
        </p:spPr>
      </p:sp>
      <p:sp>
        <p:nvSpPr>
          <p:cNvPr id="11" name="Text 9"/>
          <p:cNvSpPr/>
          <p:nvPr/>
        </p:nvSpPr>
        <p:spPr>
          <a:xfrm>
            <a:off x="2523744" y="1115568"/>
            <a:ext cx="1865376" cy="438912"/>
          </a:xfrm>
          <a:prstGeom prst="rect">
            <a:avLst/>
          </a:prstGeom>
          <a:noFill/>
          <a:ln/>
        </p:spPr>
        <p:txBody>
          <a:bodyPr wrap="square" lIns="0" tIns="0" rIns="0" bIns="0" rtlCol="0" anchor="ctr"/>
          <a:lstStyle/>
          <a:p>
            <a:pPr algn="ctr" indent="0" marL="0">
              <a:buNone/>
            </a:pPr>
            <a:r>
              <a:rPr lang="en-US" sz="1050" b="1" dirty="0">
                <a:solidFill>
                  <a:srgbClr val="FFFFFF"/>
                </a:solidFill>
              </a:rPr>
              <a:t>Patient Barriers</a:t>
            </a:r>
            <a:endParaRPr lang="en-US" sz="1050" dirty="0"/>
          </a:p>
        </p:txBody>
      </p:sp>
      <p:sp>
        <p:nvSpPr>
          <p:cNvPr id="12" name="Text 10"/>
          <p:cNvSpPr/>
          <p:nvPr/>
        </p:nvSpPr>
        <p:spPr>
          <a:xfrm>
            <a:off x="2542032" y="1645920"/>
            <a:ext cx="1847088" cy="315468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72525"/>
                </a:solidFill>
              </a:rPr>
              <a:t>Confusing medical language and jargon</a:t>
            </a:r>
            <a:endParaRPr lang="en-US" sz="950" dirty="0"/>
          </a:p>
          <a:p>
            <a:pPr marL="342900" indent="-342900">
              <a:spcAft>
                <a:spcPts val="400"/>
              </a:spcAft>
              <a:buSzPct val="100000"/>
              <a:buChar char="•"/>
            </a:pPr>
            <a:r>
              <a:rPr lang="en-US" sz="950" dirty="0">
                <a:solidFill>
                  <a:srgbClr val="172525"/>
                </a:solidFill>
              </a:rPr>
              <a:t>1 in 3 US adults has limited health literacy</a:t>
            </a:r>
            <a:endParaRPr lang="en-US" sz="950" dirty="0"/>
          </a:p>
          <a:p>
            <a:pPr marL="342900" indent="-342900">
              <a:spcAft>
                <a:spcPts val="400"/>
              </a:spcAft>
              <a:buSzPct val="100000"/>
              <a:buChar char="•"/>
            </a:pPr>
            <a:r>
              <a:rPr lang="en-US" sz="950" dirty="0">
                <a:solidFill>
                  <a:srgbClr val="172525"/>
                </a:solidFill>
              </a:rPr>
              <a:t>Prescription access delays and cost barriers</a:t>
            </a:r>
            <a:endParaRPr lang="en-US" sz="950" dirty="0"/>
          </a:p>
          <a:p>
            <a:pPr marL="342900" indent="-342900">
              <a:spcAft>
                <a:spcPts val="400"/>
              </a:spcAft>
              <a:buSzPct val="100000"/>
              <a:buChar char="•"/>
            </a:pPr>
            <a:r>
              <a:rPr lang="en-US" sz="950" dirty="0">
                <a:solidFill>
                  <a:srgbClr val="172525"/>
                </a:solidFill>
              </a:rPr>
              <a:t>Language barriers for 25M+ limited-English speakers</a:t>
            </a:r>
            <a:endParaRPr lang="en-US" sz="950" dirty="0"/>
          </a:p>
          <a:p>
            <a:pPr marL="342900" indent="-342900">
              <a:spcAft>
                <a:spcPts val="400"/>
              </a:spcAft>
              <a:buSzPct val="100000"/>
              <a:buChar char="•"/>
            </a:pPr>
            <a:r>
              <a:rPr lang="en-US" sz="950" dirty="0">
                <a:solidFill>
                  <a:srgbClr val="172525"/>
                </a:solidFill>
              </a:rPr>
              <a:t>Limited home support and caregiver involvement</a:t>
            </a:r>
            <a:endParaRPr lang="en-US" sz="950" dirty="0"/>
          </a:p>
          <a:p>
            <a:pPr marL="342900" indent="-342900">
              <a:spcAft>
                <a:spcPts val="400"/>
              </a:spcAft>
              <a:buSzPct val="100000"/>
              <a:buChar char="•"/>
            </a:pPr>
            <a:r>
              <a:rPr lang="en-US" sz="950" dirty="0">
                <a:solidFill>
                  <a:srgbClr val="172525"/>
                </a:solidFill>
              </a:rPr>
              <a:t>Cognitive impairment affects recall post-surgery</a:t>
            </a:r>
            <a:endParaRPr lang="en-US" sz="950" dirty="0"/>
          </a:p>
        </p:txBody>
      </p:sp>
      <p:sp>
        <p:nvSpPr>
          <p:cNvPr id="13" name="Shape 11"/>
          <p:cNvSpPr/>
          <p:nvPr/>
        </p:nvSpPr>
        <p:spPr>
          <a:xfrm>
            <a:off x="4626864" y="1097280"/>
            <a:ext cx="2011680" cy="3822192"/>
          </a:xfrm>
          <a:prstGeom prst="rect">
            <a:avLst/>
          </a:prstGeom>
          <a:solidFill>
            <a:srgbClr val="FFFFFF"/>
          </a:solidFill>
          <a:ln w="12700">
            <a:solidFill>
              <a:srgbClr val="CBD6D3"/>
            </a:solidFill>
            <a:prstDash val="solid"/>
          </a:ln>
          <a:effectLst>
            <a:outerShdw sx="100000" sy="100000" kx="0" ky="0" algn="bl" rotWithShape="0" blurRad="101600" dist="25400" dir="8100000">
              <a:srgbClr val="000000">
                <a:alpha val="9000"/>
              </a:srgbClr>
            </a:outerShdw>
          </a:effectLst>
        </p:spPr>
      </p:sp>
      <p:sp>
        <p:nvSpPr>
          <p:cNvPr id="14" name="Shape 12"/>
          <p:cNvSpPr/>
          <p:nvPr/>
        </p:nvSpPr>
        <p:spPr>
          <a:xfrm>
            <a:off x="4626864" y="1097280"/>
            <a:ext cx="2011680" cy="475488"/>
          </a:xfrm>
          <a:prstGeom prst="rect">
            <a:avLst/>
          </a:prstGeom>
          <a:solidFill>
            <a:srgbClr val="8A6100"/>
          </a:solidFill>
          <a:ln w="12700">
            <a:solidFill>
              <a:srgbClr val="8A6100"/>
            </a:solidFill>
            <a:prstDash val="solid"/>
          </a:ln>
        </p:spPr>
      </p:sp>
      <p:sp>
        <p:nvSpPr>
          <p:cNvPr id="15" name="Text 13"/>
          <p:cNvSpPr/>
          <p:nvPr/>
        </p:nvSpPr>
        <p:spPr>
          <a:xfrm>
            <a:off x="4700016" y="1115568"/>
            <a:ext cx="1865376" cy="438912"/>
          </a:xfrm>
          <a:prstGeom prst="rect">
            <a:avLst/>
          </a:prstGeom>
          <a:noFill/>
          <a:ln/>
        </p:spPr>
        <p:txBody>
          <a:bodyPr wrap="square" lIns="0" tIns="0" rIns="0" bIns="0" rtlCol="0" anchor="ctr"/>
          <a:lstStyle/>
          <a:p>
            <a:pPr algn="ctr" indent="0" marL="0">
              <a:buNone/>
            </a:pPr>
            <a:r>
              <a:rPr lang="en-US" sz="1050" b="1" dirty="0">
                <a:solidFill>
                  <a:srgbClr val="FFFFFF"/>
                </a:solidFill>
              </a:rPr>
              <a:t>System Failures</a:t>
            </a:r>
            <a:endParaRPr lang="en-US" sz="1050" dirty="0"/>
          </a:p>
        </p:txBody>
      </p:sp>
      <p:sp>
        <p:nvSpPr>
          <p:cNvPr id="16" name="Text 14"/>
          <p:cNvSpPr/>
          <p:nvPr/>
        </p:nvSpPr>
        <p:spPr>
          <a:xfrm>
            <a:off x="4718304" y="1645920"/>
            <a:ext cx="1847088" cy="315468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72525"/>
                </a:solidFill>
              </a:rPr>
              <a:t>Zero visibility once patient leaves the hospital</a:t>
            </a:r>
            <a:endParaRPr lang="en-US" sz="950" dirty="0"/>
          </a:p>
          <a:p>
            <a:pPr marL="342900" indent="-342900">
              <a:spcAft>
                <a:spcPts val="400"/>
              </a:spcAft>
              <a:buSzPct val="100000"/>
              <a:buChar char="•"/>
            </a:pPr>
            <a:r>
              <a:rPr lang="en-US" sz="950" dirty="0">
                <a:solidFill>
                  <a:srgbClr val="172525"/>
                </a:solidFill>
              </a:rPr>
              <a:t>Fragmented communication between care teams</a:t>
            </a:r>
            <a:endParaRPr lang="en-US" sz="950" dirty="0"/>
          </a:p>
          <a:p>
            <a:pPr marL="342900" indent="-342900">
              <a:spcAft>
                <a:spcPts val="400"/>
              </a:spcAft>
              <a:buSzPct val="100000"/>
              <a:buChar char="•"/>
            </a:pPr>
            <a:r>
              <a:rPr lang="en-US" sz="950" dirty="0">
                <a:solidFill>
                  <a:srgbClr val="172525"/>
                </a:solidFill>
              </a:rPr>
              <a:t>No real-time adherence monitoring at home</a:t>
            </a:r>
            <a:endParaRPr lang="en-US" sz="950" dirty="0"/>
          </a:p>
          <a:p>
            <a:pPr marL="342900" indent="-342900">
              <a:spcAft>
                <a:spcPts val="400"/>
              </a:spcAft>
              <a:buSzPct val="100000"/>
              <a:buChar char="•"/>
            </a:pPr>
            <a:r>
              <a:rPr lang="en-US" sz="950" dirty="0">
                <a:solidFill>
                  <a:srgbClr val="172525"/>
                </a:solidFill>
              </a:rPr>
              <a:t>Critical information lost in care transitions</a:t>
            </a:r>
            <a:endParaRPr lang="en-US" sz="950" dirty="0"/>
          </a:p>
          <a:p>
            <a:pPr marL="342900" indent="-342900">
              <a:spcAft>
                <a:spcPts val="400"/>
              </a:spcAft>
              <a:buSzPct val="100000"/>
              <a:buChar char="•"/>
            </a:pPr>
            <a:r>
              <a:rPr lang="en-US" sz="950" dirty="0">
                <a:solidFill>
                  <a:srgbClr val="172525"/>
                </a:solidFill>
              </a:rPr>
              <a:t>Days 1-7 are highest risk — least supported</a:t>
            </a:r>
            <a:endParaRPr lang="en-US" sz="950" dirty="0"/>
          </a:p>
          <a:p>
            <a:pPr marL="342900" indent="-342900">
              <a:spcAft>
                <a:spcPts val="400"/>
              </a:spcAft>
              <a:buSzPct val="100000"/>
              <a:buChar char="•"/>
            </a:pPr>
            <a:r>
              <a:rPr lang="en-US" sz="950" dirty="0">
                <a:solidFill>
                  <a:srgbClr val="172525"/>
                </a:solidFill>
              </a:rPr>
              <a:t>No feedback loop on missed medications or tasks</a:t>
            </a:r>
            <a:endParaRPr lang="en-US" sz="950" dirty="0"/>
          </a:p>
        </p:txBody>
      </p:sp>
      <p:sp>
        <p:nvSpPr>
          <p:cNvPr id="17" name="Shape 15"/>
          <p:cNvSpPr/>
          <p:nvPr/>
        </p:nvSpPr>
        <p:spPr>
          <a:xfrm>
            <a:off x="6803136" y="1097280"/>
            <a:ext cx="2011680" cy="3822192"/>
          </a:xfrm>
          <a:prstGeom prst="rect">
            <a:avLst/>
          </a:prstGeom>
          <a:solidFill>
            <a:srgbClr val="FFFFFF"/>
          </a:solidFill>
          <a:ln w="12700">
            <a:solidFill>
              <a:srgbClr val="CBD6D3"/>
            </a:solidFill>
            <a:prstDash val="solid"/>
          </a:ln>
          <a:effectLst>
            <a:outerShdw sx="100000" sy="100000" kx="0" ky="0" algn="bl" rotWithShape="0" blurRad="101600" dist="25400" dir="8100000">
              <a:srgbClr val="000000">
                <a:alpha val="9000"/>
              </a:srgbClr>
            </a:outerShdw>
          </a:effectLst>
        </p:spPr>
      </p:sp>
      <p:sp>
        <p:nvSpPr>
          <p:cNvPr id="18" name="Shape 16"/>
          <p:cNvSpPr/>
          <p:nvPr/>
        </p:nvSpPr>
        <p:spPr>
          <a:xfrm>
            <a:off x="6803136" y="1097280"/>
            <a:ext cx="2011680" cy="475488"/>
          </a:xfrm>
          <a:prstGeom prst="rect">
            <a:avLst/>
          </a:prstGeom>
          <a:solidFill>
            <a:srgbClr val="A33131"/>
          </a:solidFill>
          <a:ln w="12700">
            <a:solidFill>
              <a:srgbClr val="A33131"/>
            </a:solidFill>
            <a:prstDash val="solid"/>
          </a:ln>
        </p:spPr>
      </p:sp>
      <p:sp>
        <p:nvSpPr>
          <p:cNvPr id="19" name="Text 17"/>
          <p:cNvSpPr/>
          <p:nvPr/>
        </p:nvSpPr>
        <p:spPr>
          <a:xfrm>
            <a:off x="6876288" y="1115568"/>
            <a:ext cx="1865376" cy="438912"/>
          </a:xfrm>
          <a:prstGeom prst="rect">
            <a:avLst/>
          </a:prstGeom>
          <a:noFill/>
          <a:ln/>
        </p:spPr>
        <p:txBody>
          <a:bodyPr wrap="square" lIns="0" tIns="0" rIns="0" bIns="0" rtlCol="0" anchor="ctr"/>
          <a:lstStyle/>
          <a:p>
            <a:pPr algn="ctr" indent="0" marL="0">
              <a:buNone/>
            </a:pPr>
            <a:r>
              <a:rPr lang="en-US" sz="1050" b="1" dirty="0">
                <a:solidFill>
                  <a:srgbClr val="FFFFFF"/>
                </a:solidFill>
              </a:rPr>
              <a:t>The Cost of Inaction</a:t>
            </a:r>
            <a:endParaRPr lang="en-US" sz="1050" dirty="0"/>
          </a:p>
        </p:txBody>
      </p:sp>
      <p:sp>
        <p:nvSpPr>
          <p:cNvPr id="20" name="Text 18"/>
          <p:cNvSpPr/>
          <p:nvPr/>
        </p:nvSpPr>
        <p:spPr>
          <a:xfrm>
            <a:off x="6894576" y="1645920"/>
            <a:ext cx="1847088" cy="315468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72525"/>
                </a:solidFill>
              </a:rPr>
              <a:t>$52.4B total US readmission cost annually</a:t>
            </a:r>
            <a:endParaRPr lang="en-US" sz="950" dirty="0"/>
          </a:p>
          <a:p>
            <a:pPr marL="342900" indent="-342900">
              <a:spcAft>
                <a:spcPts val="400"/>
              </a:spcAft>
              <a:buSzPct val="100000"/>
              <a:buChar char="•"/>
            </a:pPr>
            <a:r>
              <a:rPr lang="en-US" sz="950" dirty="0">
                <a:solidFill>
                  <a:srgbClr val="172525"/>
                </a:solidFill>
              </a:rPr>
              <a:t>$15,200 average cost per readmission episode</a:t>
            </a:r>
            <a:endParaRPr lang="en-US" sz="950" dirty="0"/>
          </a:p>
          <a:p>
            <a:pPr marL="342900" indent="-342900">
              <a:spcAft>
                <a:spcPts val="400"/>
              </a:spcAft>
              <a:buSzPct val="100000"/>
              <a:buChar char="•"/>
            </a:pPr>
            <a:r>
              <a:rPr lang="en-US" sz="950" dirty="0">
                <a:solidFill>
                  <a:srgbClr val="172525"/>
                </a:solidFill>
              </a:rPr>
              <a:t>Up to 3% CMS Medicare reimbursement penalty</a:t>
            </a:r>
            <a:endParaRPr lang="en-US" sz="950" dirty="0"/>
          </a:p>
          <a:p>
            <a:pPr marL="342900" indent="-342900">
              <a:spcAft>
                <a:spcPts val="400"/>
              </a:spcAft>
              <a:buSzPct val="100000"/>
              <a:buChar char="•"/>
            </a:pPr>
            <a:r>
              <a:rPr lang="en-US" sz="950" dirty="0">
                <a:solidFill>
                  <a:srgbClr val="172525"/>
                </a:solidFill>
              </a:rPr>
              <a:t>Patient trust and safety put at risk</a:t>
            </a:r>
            <a:endParaRPr lang="en-US" sz="950" dirty="0"/>
          </a:p>
          <a:p>
            <a:pPr marL="342900" indent="-342900">
              <a:spcAft>
                <a:spcPts val="400"/>
              </a:spcAft>
              <a:buSzPct val="100000"/>
              <a:buChar char="•"/>
            </a:pPr>
            <a:r>
              <a:rPr lang="en-US" sz="950" dirty="0">
                <a:solidFill>
                  <a:srgbClr val="172525"/>
                </a:solidFill>
              </a:rPr>
              <a:t>Medication-related events: a leading harm cause</a:t>
            </a:r>
            <a:endParaRPr lang="en-US" sz="950" dirty="0"/>
          </a:p>
          <a:p>
            <a:pPr marL="342900" indent="-342900">
              <a:spcAft>
                <a:spcPts val="400"/>
              </a:spcAft>
              <a:buSzPct val="100000"/>
              <a:buChar char="•"/>
            </a:pPr>
            <a:r>
              <a:rPr lang="en-US" sz="950" dirty="0">
                <a:solidFill>
                  <a:srgbClr val="172525"/>
                </a:solidFill>
              </a:rPr>
              <a:t>Caregiver burnout from uncoordinated follow-up</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7F6"/>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73F43"/>
          </a:solidFill>
          <a:ln w="12700">
            <a:solidFill>
              <a:srgbClr val="073F43"/>
            </a:solidFill>
            <a:prstDash val="solid"/>
          </a:ln>
        </p:spPr>
      </p:sp>
      <p:sp>
        <p:nvSpPr>
          <p:cNvPr id="3" name="Text 1"/>
          <p:cNvSpPr/>
          <p:nvPr/>
        </p:nvSpPr>
        <p:spPr>
          <a:xfrm>
            <a:off x="457200" y="54864"/>
            <a:ext cx="8229600" cy="274320"/>
          </a:xfrm>
          <a:prstGeom prst="rect">
            <a:avLst/>
          </a:prstGeom>
          <a:noFill/>
          <a:ln/>
        </p:spPr>
        <p:txBody>
          <a:bodyPr wrap="square" lIns="0" tIns="0" rIns="0" bIns="0" rtlCol="0" anchor="ctr"/>
          <a:lstStyle/>
          <a:p>
            <a:pPr indent="0" marL="0">
              <a:buNone/>
            </a:pPr>
            <a:r>
              <a:rPr lang="en-US" sz="900" b="1" spc="400" kern="0" dirty="0">
                <a:solidFill>
                  <a:srgbClr val="D9EFF0"/>
                </a:solidFill>
              </a:rPr>
              <a:t>COMPETITIVE LANDSCAPE</a:t>
            </a:r>
            <a:endParaRPr lang="en-US" sz="900" dirty="0"/>
          </a:p>
        </p:txBody>
      </p:sp>
      <p:sp>
        <p:nvSpPr>
          <p:cNvPr id="4" name="Text 2"/>
          <p:cNvSpPr/>
          <p:nvPr/>
        </p:nvSpPr>
        <p:spPr>
          <a:xfrm>
            <a:off x="457200" y="384048"/>
            <a:ext cx="8229600" cy="521208"/>
          </a:xfrm>
          <a:prstGeom prst="rect">
            <a:avLst/>
          </a:prstGeom>
          <a:noFill/>
          <a:ln/>
        </p:spPr>
        <p:txBody>
          <a:bodyPr wrap="square" lIns="0" tIns="0" rIns="0" bIns="0" rtlCol="0" anchor="ctr"/>
          <a:lstStyle/>
          <a:p>
            <a:pPr indent="0" marL="0">
              <a:buNone/>
            </a:pPr>
            <a:r>
              <a:rPr lang="en-US" sz="1700" b="1" dirty="0">
                <a:solidFill>
                  <a:srgbClr val="FFFFFF"/>
                </a:solidFill>
              </a:rPr>
              <a:t>Six platforms exist. None close the loop the way CarePath can.</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1143000"/>
          <a:ext cx="8595360" cy="3794760"/>
        </p:xfrm>
        <a:graphic>
          <a:graphicData uri="http://schemas.openxmlformats.org/drawingml/2006/table">
            <a:tbl>
              <a:tblPr/>
              <a:tblGrid>
                <a:gridCol w="1417320"/>
                <a:gridCol w="2240280"/>
                <a:gridCol w="2331720"/>
                <a:gridCol w="2606040"/>
              </a:tblGrid>
              <a:tr h="475488">
                <a:tc>
                  <a:txBody>
                    <a:bodyPr/>
                    <a:lstStyle/>
                    <a:p>
                      <a:pPr algn="ctr" indent="0" marL="0">
                        <a:buNone/>
                      </a:pPr>
                      <a:r>
                        <a:rPr lang="en-US" sz="1000" b="1" dirty="0">
                          <a:solidFill>
                            <a:srgbClr val="FFFFFF"/>
                          </a:solidFill>
                        </a:rPr>
                        <a:t>Platform</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08737B"/>
                    </a:solidFill>
                  </a:tcPr>
                </a:tc>
                <a:tc>
                  <a:txBody>
                    <a:bodyPr/>
                    <a:lstStyle/>
                    <a:p>
                      <a:pPr indent="0" marL="0">
                        <a:buNone/>
                      </a:pPr>
                      <a:r>
                        <a:rPr lang="en-US" sz="1000" b="1" dirty="0">
                          <a:solidFill>
                            <a:srgbClr val="FFFFFF"/>
                          </a:solidFill>
                        </a:rPr>
                        <a:t>What It Does</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08737B"/>
                    </a:solidFill>
                  </a:tcPr>
                </a:tc>
                <a:tc>
                  <a:txBody>
                    <a:bodyPr/>
                    <a:lstStyle/>
                    <a:p>
                      <a:pPr indent="0" marL="0">
                        <a:buNone/>
                      </a:pPr>
                      <a:r>
                        <a:rPr lang="en-US" sz="1000" b="1" dirty="0">
                          <a:solidFill>
                            <a:srgbClr val="FFFFFF"/>
                          </a:solidFill>
                        </a:rPr>
                        <a:t>Critical Gap</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08737B"/>
                    </a:solidFill>
                  </a:tcPr>
                </a:tc>
                <a:tc>
                  <a:txBody>
                    <a:bodyPr/>
                    <a:lstStyle/>
                    <a:p>
                      <a:pPr indent="0" marL="0">
                        <a:buNone/>
                      </a:pPr>
                      <a:r>
                        <a:rPr lang="en-US" sz="1000" b="1" dirty="0">
                          <a:solidFill>
                            <a:srgbClr val="FFFFFF"/>
                          </a:solidFill>
                        </a:rPr>
                        <a:t>CarePath Edge</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08737B"/>
                    </a:solidFill>
                  </a:tcPr>
                </a:tc>
              </a:tr>
              <a:tr h="475488">
                <a:tc>
                  <a:txBody>
                    <a:bodyPr/>
                    <a:lstStyle/>
                    <a:p>
                      <a:pPr indent="0" marL="0">
                        <a:buNone/>
                      </a:pPr>
                      <a:r>
                        <a:rPr lang="en-US" sz="1000" b="1" dirty="0">
                          <a:solidFill>
                            <a:srgbClr val="000000"/>
                          </a:solidFill>
                        </a:rPr>
                        <a:t>Medisafe</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Consumer medication reminders and drug interaction alerts (7M+ users, 30% better adherence reported)</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c>
                  <a:txBody>
                    <a:bodyPr/>
                    <a:lstStyle/>
                    <a:p>
                      <a:pPr indent="0" marL="0">
                        <a:buNone/>
                      </a:pPr>
                      <a:r>
                        <a:rPr lang="en-US" sz="1000" dirty="0">
                          <a:solidFill>
                            <a:srgbClr val="A33131"/>
                          </a:solidFill>
                        </a:rPr>
                        <a:t>No discharge document parsing, no clinical oversight, no escalation path</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c>
                  <a:txBody>
                    <a:bodyPr/>
                    <a:lstStyle/>
                    <a:p>
                      <a:pPr indent="0" marL="0">
                        <a:buNone/>
                      </a:pPr>
                      <a:r>
                        <a:rPr lang="en-US" sz="1000" i="1" dirty="0">
                          <a:solidFill>
                            <a:srgbClr val="08737B"/>
                          </a:solidFill>
                        </a:rPr>
                        <a:t>Discharge-linked, clinician-verified reminders from day one</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000000"/>
                          </a:solidFill>
                        </a:rPr>
                        <a:t>CipherHealth</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Post-discharge IVR outreach and digital rounding for hospital systems</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c>
                  <a:txBody>
                    <a:bodyPr/>
                    <a:lstStyle/>
                    <a:p>
                      <a:pPr indent="0" marL="0">
                        <a:buNone/>
                      </a:pPr>
                      <a:r>
                        <a:rPr lang="en-US" sz="1000" dirty="0">
                          <a:solidFill>
                            <a:srgbClr val="A33131"/>
                          </a:solidFill>
                        </a:rPr>
                        <a:t>No in-home caregiver presence, limited adherence monitoring, passive check-ins only</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c>
                  <a:txBody>
                    <a:bodyPr/>
                    <a:lstStyle/>
                    <a:p>
                      <a:pPr indent="0" marL="0">
                        <a:buNone/>
                      </a:pPr>
                      <a:r>
                        <a:rPr lang="en-US" sz="1000" i="1" dirty="0">
                          <a:solidFill>
                            <a:srgbClr val="08737B"/>
                          </a:solidFill>
                        </a:rPr>
                        <a:t>Real caregivers physically in patients homes as adherence observers</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000000"/>
                          </a:solidFill>
                        </a:rPr>
                        <a:t>Memora Health</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AI text messaging to automate care pathways post-discharge (raised $40M)</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c>
                  <a:txBody>
                    <a:bodyPr/>
                    <a:lstStyle/>
                    <a:p>
                      <a:pPr indent="0" marL="0">
                        <a:buNone/>
                      </a:pPr>
                      <a:r>
                        <a:rPr lang="en-US" sz="1000" dirty="0">
                          <a:solidFill>
                            <a:srgbClr val="A33131"/>
                          </a:solidFill>
                        </a:rPr>
                        <a:t>No physical presence, no discharge document extraction, no HIPAA audit trail by default</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c>
                  <a:txBody>
                    <a:bodyPr/>
                    <a:lstStyle/>
                    <a:p>
                      <a:pPr indent="0" marL="0">
                        <a:buNone/>
                      </a:pPr>
                      <a:r>
                        <a:rPr lang="en-US" sz="1000" i="1" dirty="0">
                          <a:solidFill>
                            <a:srgbClr val="08737B"/>
                          </a:solidFill>
                        </a:rPr>
                        <a:t>HIPAA-grade audit trail built in; clinician approval before any message sends</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000000"/>
                          </a:solidFill>
                        </a:rPr>
                        <a:t>Twistle (Health Catalyst)</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Automated care pathways and digital patient check-ins post-procedure</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c>
                  <a:txBody>
                    <a:bodyPr/>
                    <a:lstStyle/>
                    <a:p>
                      <a:pPr indent="0" marL="0">
                        <a:buNone/>
                      </a:pPr>
                      <a:r>
                        <a:rPr lang="en-US" sz="1000" dirty="0">
                          <a:solidFill>
                            <a:srgbClr val="A33131"/>
                          </a:solidFill>
                        </a:rPr>
                        <a:t>No in-home integration, no discharge note extraction, enterprise-only pricing</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c>
                  <a:txBody>
                    <a:bodyPr/>
                    <a:lstStyle/>
                    <a:p>
                      <a:pPr indent="0" marL="0">
                        <a:buNone/>
                      </a:pPr>
                      <a:r>
                        <a:rPr lang="en-US" sz="1000" i="1" dirty="0">
                          <a:solidFill>
                            <a:srgbClr val="08737B"/>
                          </a:solidFill>
                        </a:rPr>
                        <a:t>Medication schedule extracted from actual discharge notes, not entered manually</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000000"/>
                          </a:solidFill>
                        </a:rPr>
                        <a:t>Wellth / Perx Health</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Financial incentive-based programs to improve patient medication adherence</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c>
                  <a:txBody>
                    <a:bodyPr/>
                    <a:lstStyle/>
                    <a:p>
                      <a:pPr indent="0" marL="0">
                        <a:buNone/>
                      </a:pPr>
                      <a:r>
                        <a:rPr lang="en-US" sz="1000" dirty="0">
                          <a:solidFill>
                            <a:srgbClr val="A33131"/>
                          </a:solidFill>
                        </a:rPr>
                        <a:t>Incentive model has CMS compliance risks, no clinical verification loop</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c>
                  <a:txBody>
                    <a:bodyPr/>
                    <a:lstStyle/>
                    <a:p>
                      <a:pPr indent="0" marL="0">
                        <a:buNone/>
                      </a:pPr>
                      <a:r>
                        <a:rPr lang="en-US" sz="1000" i="1" dirty="0">
                          <a:solidFill>
                            <a:srgbClr val="08737B"/>
                          </a:solidFill>
                        </a:rPr>
                        <a:t>Clinician verifies and approves every care plan before any reminder fires</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000000"/>
                          </a:solidFill>
                        </a:rPr>
                        <a:t>CareZone</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Family health management: medication tracking, documents, and insurance</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c>
                  <a:txBody>
                    <a:bodyPr/>
                    <a:lstStyle/>
                    <a:p>
                      <a:pPr indent="0" marL="0">
                        <a:buNone/>
                      </a:pPr>
                      <a:r>
                        <a:rPr lang="en-US" sz="1000" dirty="0">
                          <a:solidFill>
                            <a:srgbClr val="A33131"/>
                          </a:solidFill>
                        </a:rPr>
                        <a:t>Consumer-grade only, no clinical verification, no escalation, no coordinator view</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c>
                  <a:txBody>
                    <a:bodyPr/>
                    <a:lstStyle/>
                    <a:p>
                      <a:pPr indent="0" marL="0">
                        <a:buNone/>
                      </a:pPr>
                      <a:r>
                        <a:rPr lang="en-US" sz="1000" i="1" dirty="0">
                          <a:solidFill>
                            <a:srgbClr val="08737B"/>
                          </a:solidFill>
                        </a:rPr>
                        <a:t>Coordinator dashboard with escalation, missed-task alerts, and outcome tracking</a:t>
                      </a:r>
                      <a:endParaRPr lang="en-US" sz="1000" dirty="0"/>
                    </a:p>
                  </a:txBody>
                  <a:tcPr marL="91440" marR="91440" marT="45720" marB="45720">
                    <a:lnL w="6350" cap="flat" cmpd="sng" algn="ctr">
                      <a:solidFill>
                        <a:srgbClr val="CBD6D3"/>
                      </a:solidFill>
                      <a:prstDash val="solid"/>
                      <a:round/>
                      <a:headEnd type="none" w="med" len="med"/>
                      <a:tailEnd type="none" w="med" len="med"/>
                    </a:lnL>
                    <a:lnR w="6350" cap="flat" cmpd="sng" algn="ctr">
                      <a:solidFill>
                        <a:srgbClr val="CBD6D3"/>
                      </a:solidFill>
                      <a:prstDash val="solid"/>
                      <a:round/>
                      <a:headEnd type="none" w="med" len="med"/>
                      <a:tailEnd type="none" w="med" len="med"/>
                    </a:lnR>
                    <a:lnT w="6350" cap="flat" cmpd="sng" algn="ctr">
                      <a:solidFill>
                        <a:srgbClr val="CBD6D3"/>
                      </a:solidFill>
                      <a:prstDash val="solid"/>
                      <a:round/>
                      <a:headEnd type="none" w="med" len="med"/>
                      <a:tailEnd type="none" w="med" len="med"/>
                    </a:lnT>
                    <a:lnB w="6350" cap="flat" cmpd="sng" algn="ctr">
                      <a:solidFill>
                        <a:srgbClr val="CBD6D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3F43"/>
        </a:solidFill>
      </p:bgPr>
    </p:bg>
    <p:spTree>
      <p:nvGrpSpPr>
        <p:cNvPr id="1" name=""/>
        <p:cNvGrpSpPr/>
        <p:nvPr/>
      </p:nvGrpSpPr>
      <p:grpSpPr>
        <a:xfrm>
          <a:off x="0" y="0"/>
          <a:ext cx="0" cy="0"/>
          <a:chOff x="0" y="0"/>
          <a:chExt cx="0" cy="0"/>
        </a:xfrm>
      </p:grpSpPr>
      <p:sp>
        <p:nvSpPr>
          <p:cNvPr id="2" name="Shape 0"/>
          <p:cNvSpPr/>
          <p:nvPr/>
        </p:nvSpPr>
        <p:spPr>
          <a:xfrm>
            <a:off x="6949440" y="-822960"/>
            <a:ext cx="3200400" cy="3200400"/>
          </a:xfrm>
          <a:prstGeom prst="ellipse">
            <a:avLst/>
          </a:prstGeom>
          <a:solidFill>
            <a:srgbClr val="08737B">
              <a:alpha val="28000"/>
            </a:srgbClr>
          </a:solidFill>
          <a:ln w="12700">
            <a:solidFill>
              <a:srgbClr val="08737B">
                <a:alpha val="28000"/>
              </a:srgbClr>
            </a:solidFill>
            <a:prstDash val="solid"/>
          </a:ln>
        </p:spPr>
      </p:sp>
      <p:sp>
        <p:nvSpPr>
          <p:cNvPr id="3" name="Shape 1"/>
          <p:cNvSpPr/>
          <p:nvPr/>
        </p:nvSpPr>
        <p:spPr>
          <a:xfrm>
            <a:off x="-731520" y="3200400"/>
            <a:ext cx="2743200" cy="2743200"/>
          </a:xfrm>
          <a:prstGeom prst="ellipse">
            <a:avLst/>
          </a:prstGeom>
          <a:solidFill>
            <a:srgbClr val="C65323">
              <a:alpha val="16000"/>
            </a:srgbClr>
          </a:solidFill>
          <a:ln w="12700">
            <a:solidFill>
              <a:srgbClr val="C65323">
                <a:alpha val="16000"/>
              </a:srgbClr>
            </a:solidFill>
            <a:prstDash val="solid"/>
          </a:ln>
        </p:spPr>
      </p:sp>
      <p:sp>
        <p:nvSpPr>
          <p:cNvPr id="4" name="Text 2"/>
          <p:cNvSpPr/>
          <p:nvPr/>
        </p:nvSpPr>
        <p:spPr>
          <a:xfrm>
            <a:off x="457200" y="274320"/>
            <a:ext cx="8229600" cy="347472"/>
          </a:xfrm>
          <a:prstGeom prst="rect">
            <a:avLst/>
          </a:prstGeom>
          <a:noFill/>
          <a:ln/>
        </p:spPr>
        <p:txBody>
          <a:bodyPr wrap="square" lIns="0" tIns="0" rIns="0" bIns="0" rtlCol="0" anchor="ctr"/>
          <a:lstStyle/>
          <a:p>
            <a:pPr indent="0" marL="0">
              <a:buNone/>
            </a:pPr>
            <a:r>
              <a:rPr lang="en-US" sz="900" b="1" spc="400" kern="0" dirty="0">
                <a:solidFill>
                  <a:srgbClr val="D9EFF0"/>
                </a:solidFill>
              </a:rPr>
              <a:t>THE B2B OPPORTUNITY</a:t>
            </a:r>
            <a:endParaRPr lang="en-US" sz="900" dirty="0"/>
          </a:p>
        </p:txBody>
      </p:sp>
      <p:sp>
        <p:nvSpPr>
          <p:cNvPr id="5" name="Text 3"/>
          <p:cNvSpPr/>
          <p:nvPr/>
        </p:nvSpPr>
        <p:spPr>
          <a:xfrm>
            <a:off x="457200" y="685800"/>
            <a:ext cx="8229600" cy="438912"/>
          </a:xfrm>
          <a:prstGeom prst="rect">
            <a:avLst/>
          </a:prstGeom>
          <a:noFill/>
          <a:ln/>
        </p:spPr>
        <p:txBody>
          <a:bodyPr wrap="square" lIns="0" tIns="0" rIns="0" bIns="0" rtlCol="0" anchor="ctr"/>
          <a:lstStyle/>
          <a:p>
            <a:pPr indent="0" marL="0">
              <a:buNone/>
            </a:pPr>
            <a:r>
              <a:rPr lang="en-US" sz="2000" b="1" dirty="0">
                <a:solidFill>
                  <a:srgbClr val="FFFFFF"/>
                </a:solidFill>
              </a:rPr>
              <a:t>CarePath Transitions is not just a care feature —</a:t>
            </a:r>
            <a:endParaRPr lang="en-US" sz="2000" dirty="0"/>
          </a:p>
        </p:txBody>
      </p:sp>
      <p:sp>
        <p:nvSpPr>
          <p:cNvPr id="6" name="Text 4"/>
          <p:cNvSpPr/>
          <p:nvPr/>
        </p:nvSpPr>
        <p:spPr>
          <a:xfrm>
            <a:off x="457200" y="1170432"/>
            <a:ext cx="8229600" cy="438912"/>
          </a:xfrm>
          <a:prstGeom prst="rect">
            <a:avLst/>
          </a:prstGeom>
          <a:noFill/>
          <a:ln/>
        </p:spPr>
        <p:txBody>
          <a:bodyPr wrap="square" lIns="0" tIns="0" rIns="0" bIns="0" rtlCol="0" anchor="ctr"/>
          <a:lstStyle/>
          <a:p>
            <a:pPr indent="0" marL="0">
              <a:buNone/>
            </a:pPr>
            <a:r>
              <a:rPr lang="en-US" sz="2000" b="1" dirty="0">
                <a:solidFill>
                  <a:srgbClr val="F4A06B"/>
                </a:solidFill>
              </a:rPr>
              <a:t>it is a hospital revenue protection product.</a:t>
            </a:r>
            <a:endParaRPr lang="en-US" sz="2000" dirty="0"/>
          </a:p>
        </p:txBody>
      </p:sp>
      <p:sp>
        <p:nvSpPr>
          <p:cNvPr id="7" name="Shape 5"/>
          <p:cNvSpPr/>
          <p:nvPr/>
        </p:nvSpPr>
        <p:spPr>
          <a:xfrm>
            <a:off x="365760" y="1847088"/>
            <a:ext cx="5166360" cy="749808"/>
          </a:xfrm>
          <a:prstGeom prst="rect">
            <a:avLst/>
          </a:prstGeom>
          <a:solidFill>
            <a:srgbClr val="0A3A3E"/>
          </a:solidFill>
          <a:ln w="12700">
            <a:solidFill>
              <a:srgbClr val="1A5B62"/>
            </a:solidFill>
            <a:prstDash val="solid"/>
          </a:ln>
        </p:spPr>
      </p:sp>
      <p:sp>
        <p:nvSpPr>
          <p:cNvPr id="8" name="Shape 6"/>
          <p:cNvSpPr/>
          <p:nvPr/>
        </p:nvSpPr>
        <p:spPr>
          <a:xfrm>
            <a:off x="365760" y="1847088"/>
            <a:ext cx="91440" cy="749808"/>
          </a:xfrm>
          <a:prstGeom prst="rect">
            <a:avLst/>
          </a:prstGeom>
          <a:solidFill>
            <a:srgbClr val="C65323"/>
          </a:solidFill>
          <a:ln w="12700">
            <a:solidFill>
              <a:srgbClr val="C65323"/>
            </a:solidFill>
            <a:prstDash val="solid"/>
          </a:ln>
        </p:spPr>
      </p:sp>
      <p:sp>
        <p:nvSpPr>
          <p:cNvPr id="9" name="Text 7"/>
          <p:cNvSpPr/>
          <p:nvPr/>
        </p:nvSpPr>
        <p:spPr>
          <a:xfrm>
            <a:off x="548640" y="1920240"/>
            <a:ext cx="1188720" cy="594360"/>
          </a:xfrm>
          <a:prstGeom prst="rect">
            <a:avLst/>
          </a:prstGeom>
          <a:noFill/>
          <a:ln/>
        </p:spPr>
        <p:txBody>
          <a:bodyPr wrap="square" lIns="0" tIns="0" rIns="0" bIns="0" rtlCol="0" anchor="ctr"/>
          <a:lstStyle/>
          <a:p>
            <a:pPr indent="0" marL="0">
              <a:buNone/>
            </a:pPr>
            <a:r>
              <a:rPr lang="en-US" sz="2200" b="1" dirty="0">
                <a:solidFill>
                  <a:srgbClr val="C65323"/>
                </a:solidFill>
              </a:rPr>
              <a:t>Up to 3%</a:t>
            </a:r>
            <a:endParaRPr lang="en-US" sz="2200" dirty="0"/>
          </a:p>
        </p:txBody>
      </p:sp>
      <p:sp>
        <p:nvSpPr>
          <p:cNvPr id="10" name="Text 8"/>
          <p:cNvSpPr/>
          <p:nvPr/>
        </p:nvSpPr>
        <p:spPr>
          <a:xfrm>
            <a:off x="1828800" y="1892808"/>
            <a:ext cx="3547872" cy="658368"/>
          </a:xfrm>
          <a:prstGeom prst="rect">
            <a:avLst/>
          </a:prstGeom>
          <a:noFill/>
          <a:ln/>
        </p:spPr>
        <p:txBody>
          <a:bodyPr wrap="square" lIns="0" tIns="0" rIns="0" bIns="0" rtlCol="0" anchor="ctr"/>
          <a:lstStyle/>
          <a:p>
            <a:pPr indent="0" marL="0">
              <a:buNone/>
            </a:pPr>
            <a:r>
              <a:rPr lang="en-US" sz="1050" dirty="0">
                <a:solidFill>
                  <a:srgbClr val="FFFFFF"/>
                </a:solidFill>
              </a:rPr>
              <a:t>CMS HRRP penalty on ALL Medicare reimbursements for hospitals with excess readmissions</a:t>
            </a:r>
            <a:endParaRPr lang="en-US" sz="1050" dirty="0"/>
          </a:p>
        </p:txBody>
      </p:sp>
      <p:sp>
        <p:nvSpPr>
          <p:cNvPr id="11" name="Shape 9"/>
          <p:cNvSpPr/>
          <p:nvPr/>
        </p:nvSpPr>
        <p:spPr>
          <a:xfrm>
            <a:off x="365760" y="2734056"/>
            <a:ext cx="5166360" cy="749808"/>
          </a:xfrm>
          <a:prstGeom prst="rect">
            <a:avLst/>
          </a:prstGeom>
          <a:solidFill>
            <a:srgbClr val="0A3A3E"/>
          </a:solidFill>
          <a:ln w="12700">
            <a:solidFill>
              <a:srgbClr val="1A5B62"/>
            </a:solidFill>
            <a:prstDash val="solid"/>
          </a:ln>
        </p:spPr>
      </p:sp>
      <p:sp>
        <p:nvSpPr>
          <p:cNvPr id="12" name="Shape 10"/>
          <p:cNvSpPr/>
          <p:nvPr/>
        </p:nvSpPr>
        <p:spPr>
          <a:xfrm>
            <a:off x="365760" y="2734056"/>
            <a:ext cx="91440" cy="749808"/>
          </a:xfrm>
          <a:prstGeom prst="rect">
            <a:avLst/>
          </a:prstGeom>
          <a:solidFill>
            <a:srgbClr val="F4A06B"/>
          </a:solidFill>
          <a:ln w="12700">
            <a:solidFill>
              <a:srgbClr val="F4A06B"/>
            </a:solidFill>
            <a:prstDash val="solid"/>
          </a:ln>
        </p:spPr>
      </p:sp>
      <p:sp>
        <p:nvSpPr>
          <p:cNvPr id="13" name="Text 11"/>
          <p:cNvSpPr/>
          <p:nvPr/>
        </p:nvSpPr>
        <p:spPr>
          <a:xfrm>
            <a:off x="548640" y="2807208"/>
            <a:ext cx="1188720" cy="594360"/>
          </a:xfrm>
          <a:prstGeom prst="rect">
            <a:avLst/>
          </a:prstGeom>
          <a:noFill/>
          <a:ln/>
        </p:spPr>
        <p:txBody>
          <a:bodyPr wrap="square" lIns="0" tIns="0" rIns="0" bIns="0" rtlCol="0" anchor="ctr"/>
          <a:lstStyle/>
          <a:p>
            <a:pPr indent="0" marL="0">
              <a:buNone/>
            </a:pPr>
            <a:r>
              <a:rPr lang="en-US" sz="2200" b="1" dirty="0">
                <a:solidFill>
                  <a:srgbClr val="F4A06B"/>
                </a:solidFill>
              </a:rPr>
              <a:t>$26B</a:t>
            </a:r>
            <a:endParaRPr lang="en-US" sz="2200" dirty="0"/>
          </a:p>
        </p:txBody>
      </p:sp>
      <p:sp>
        <p:nvSpPr>
          <p:cNvPr id="14" name="Text 12"/>
          <p:cNvSpPr/>
          <p:nvPr/>
        </p:nvSpPr>
        <p:spPr>
          <a:xfrm>
            <a:off x="1828800" y="2779776"/>
            <a:ext cx="3547872" cy="658368"/>
          </a:xfrm>
          <a:prstGeom prst="rect">
            <a:avLst/>
          </a:prstGeom>
          <a:noFill/>
          <a:ln/>
        </p:spPr>
        <p:txBody>
          <a:bodyPr wrap="square" lIns="0" tIns="0" rIns="0" bIns="0" rtlCol="0" anchor="ctr"/>
          <a:lstStyle/>
          <a:p>
            <a:pPr indent="0" marL="0">
              <a:buNone/>
            </a:pPr>
            <a:r>
              <a:rPr lang="en-US" sz="1050" dirty="0">
                <a:solidFill>
                  <a:srgbClr val="FFFFFF"/>
                </a:solidFill>
              </a:rPr>
              <a:t>Medicare pays annually for unplanned 30-day readmissions — hospitals share this liability</a:t>
            </a:r>
            <a:endParaRPr lang="en-US" sz="1050" dirty="0"/>
          </a:p>
        </p:txBody>
      </p:sp>
      <p:sp>
        <p:nvSpPr>
          <p:cNvPr id="15" name="Shape 13"/>
          <p:cNvSpPr/>
          <p:nvPr/>
        </p:nvSpPr>
        <p:spPr>
          <a:xfrm>
            <a:off x="365760" y="3621024"/>
            <a:ext cx="5166360" cy="749808"/>
          </a:xfrm>
          <a:prstGeom prst="rect">
            <a:avLst/>
          </a:prstGeom>
          <a:solidFill>
            <a:srgbClr val="0A3A3E"/>
          </a:solidFill>
          <a:ln w="12700">
            <a:solidFill>
              <a:srgbClr val="1A5B62"/>
            </a:solidFill>
            <a:prstDash val="solid"/>
          </a:ln>
        </p:spPr>
      </p:sp>
      <p:sp>
        <p:nvSpPr>
          <p:cNvPr id="16" name="Shape 14"/>
          <p:cNvSpPr/>
          <p:nvPr/>
        </p:nvSpPr>
        <p:spPr>
          <a:xfrm>
            <a:off x="365760" y="3621024"/>
            <a:ext cx="91440" cy="749808"/>
          </a:xfrm>
          <a:prstGeom prst="rect">
            <a:avLst/>
          </a:prstGeom>
          <a:solidFill>
            <a:srgbClr val="D9EFF0"/>
          </a:solidFill>
          <a:ln w="12700">
            <a:solidFill>
              <a:srgbClr val="D9EFF0"/>
            </a:solidFill>
            <a:prstDash val="solid"/>
          </a:ln>
        </p:spPr>
      </p:sp>
      <p:sp>
        <p:nvSpPr>
          <p:cNvPr id="17" name="Text 15"/>
          <p:cNvSpPr/>
          <p:nvPr/>
        </p:nvSpPr>
        <p:spPr>
          <a:xfrm>
            <a:off x="548640" y="3694176"/>
            <a:ext cx="1188720" cy="594360"/>
          </a:xfrm>
          <a:prstGeom prst="rect">
            <a:avLst/>
          </a:prstGeom>
          <a:noFill/>
          <a:ln/>
        </p:spPr>
        <p:txBody>
          <a:bodyPr wrap="square" lIns="0" tIns="0" rIns="0" bIns="0" rtlCol="0" anchor="ctr"/>
          <a:lstStyle/>
          <a:p>
            <a:pPr indent="0" marL="0">
              <a:buNone/>
            </a:pPr>
            <a:r>
              <a:rPr lang="en-US" sz="2200" b="1" dirty="0">
                <a:solidFill>
                  <a:srgbClr val="D9EFF0"/>
                </a:solidFill>
              </a:rPr>
              <a:t>2,545</a:t>
            </a:r>
            <a:endParaRPr lang="en-US" sz="2200" dirty="0"/>
          </a:p>
        </p:txBody>
      </p:sp>
      <p:sp>
        <p:nvSpPr>
          <p:cNvPr id="18" name="Text 16"/>
          <p:cNvSpPr/>
          <p:nvPr/>
        </p:nvSpPr>
        <p:spPr>
          <a:xfrm>
            <a:off x="1828800" y="3666744"/>
            <a:ext cx="3547872" cy="658368"/>
          </a:xfrm>
          <a:prstGeom prst="rect">
            <a:avLst/>
          </a:prstGeom>
          <a:noFill/>
          <a:ln/>
        </p:spPr>
        <p:txBody>
          <a:bodyPr wrap="square" lIns="0" tIns="0" rIns="0" bIns="0" rtlCol="0" anchor="ctr"/>
          <a:lstStyle/>
          <a:p>
            <a:pPr indent="0" marL="0">
              <a:buNone/>
            </a:pPr>
            <a:r>
              <a:rPr lang="en-US" sz="1050" dirty="0">
                <a:solidFill>
                  <a:srgbClr val="FFFFFF"/>
                </a:solidFill>
              </a:rPr>
              <a:t>US hospitals penalized in the most recent HRRP reporting period (78% of all participating hospitals)</a:t>
            </a:r>
            <a:endParaRPr lang="en-US" sz="1050" dirty="0"/>
          </a:p>
        </p:txBody>
      </p:sp>
      <p:sp>
        <p:nvSpPr>
          <p:cNvPr id="19" name="Shape 17"/>
          <p:cNvSpPr/>
          <p:nvPr/>
        </p:nvSpPr>
        <p:spPr>
          <a:xfrm>
            <a:off x="5806440" y="1298448"/>
            <a:ext cx="3063240" cy="3319272"/>
          </a:xfrm>
          <a:prstGeom prst="rect">
            <a:avLst/>
          </a:prstGeom>
          <a:solidFill>
            <a:srgbClr val="052E31"/>
          </a:solidFill>
          <a:ln w="12700">
            <a:solidFill>
              <a:srgbClr val="1A5B62"/>
            </a:solidFill>
            <a:prstDash val="solid"/>
          </a:ln>
        </p:spPr>
      </p:sp>
      <p:sp>
        <p:nvSpPr>
          <p:cNvPr id="20" name="Text 18"/>
          <p:cNvSpPr/>
          <p:nvPr/>
        </p:nvSpPr>
        <p:spPr>
          <a:xfrm>
            <a:off x="5989320" y="1389888"/>
            <a:ext cx="2697480" cy="274320"/>
          </a:xfrm>
          <a:prstGeom prst="rect">
            <a:avLst/>
          </a:prstGeom>
          <a:noFill/>
          <a:ln/>
        </p:spPr>
        <p:txBody>
          <a:bodyPr wrap="square" lIns="0" tIns="0" rIns="0" bIns="0" rtlCol="0" anchor="ctr"/>
          <a:lstStyle/>
          <a:p>
            <a:pPr indent="0" marL="0">
              <a:buNone/>
            </a:pPr>
            <a:r>
              <a:rPr lang="en-US" sz="900" b="1" spc="300" kern="0" dirty="0">
                <a:solidFill>
                  <a:srgbClr val="D9EFF0"/>
                </a:solidFill>
              </a:rPr>
              <a:t>HOW WE MONETIZE</a:t>
            </a:r>
            <a:endParaRPr lang="en-US" sz="900" dirty="0"/>
          </a:p>
        </p:txBody>
      </p:sp>
      <p:sp>
        <p:nvSpPr>
          <p:cNvPr id="21" name="Shape 19"/>
          <p:cNvSpPr/>
          <p:nvPr/>
        </p:nvSpPr>
        <p:spPr>
          <a:xfrm>
            <a:off x="6035040" y="1847088"/>
            <a:ext cx="128016" cy="128016"/>
          </a:xfrm>
          <a:prstGeom prst="ellipse">
            <a:avLst/>
          </a:prstGeom>
          <a:solidFill>
            <a:srgbClr val="C65323"/>
          </a:solidFill>
          <a:ln w="12700">
            <a:solidFill>
              <a:srgbClr val="C65323"/>
            </a:solidFill>
            <a:prstDash val="solid"/>
          </a:ln>
        </p:spPr>
      </p:sp>
      <p:sp>
        <p:nvSpPr>
          <p:cNvPr id="22" name="Text 20"/>
          <p:cNvSpPr/>
          <p:nvPr/>
        </p:nvSpPr>
        <p:spPr>
          <a:xfrm>
            <a:off x="6263640" y="1792224"/>
            <a:ext cx="2487168" cy="521208"/>
          </a:xfrm>
          <a:prstGeom prst="rect">
            <a:avLst/>
          </a:prstGeom>
          <a:noFill/>
          <a:ln/>
        </p:spPr>
        <p:txBody>
          <a:bodyPr wrap="square" lIns="0" tIns="0" rIns="0" bIns="0" rtlCol="0" anchor="ctr"/>
          <a:lstStyle/>
          <a:p>
            <a:pPr indent="0" marL="0">
              <a:buNone/>
            </a:pPr>
            <a:r>
              <a:rPr lang="en-US" sz="1050" dirty="0">
                <a:solidFill>
                  <a:srgbClr val="FFFFFF"/>
                </a:solidFill>
              </a:rPr>
              <a:t>Per-patient monthly fee billed to hospital discharge departments</a:t>
            </a:r>
            <a:endParaRPr lang="en-US" sz="1050" dirty="0"/>
          </a:p>
        </p:txBody>
      </p:sp>
      <p:sp>
        <p:nvSpPr>
          <p:cNvPr id="23" name="Shape 21"/>
          <p:cNvSpPr/>
          <p:nvPr/>
        </p:nvSpPr>
        <p:spPr>
          <a:xfrm>
            <a:off x="6035040" y="2414016"/>
            <a:ext cx="128016" cy="128016"/>
          </a:xfrm>
          <a:prstGeom prst="ellipse">
            <a:avLst/>
          </a:prstGeom>
          <a:solidFill>
            <a:srgbClr val="C65323"/>
          </a:solidFill>
          <a:ln w="12700">
            <a:solidFill>
              <a:srgbClr val="C65323"/>
            </a:solidFill>
            <a:prstDash val="solid"/>
          </a:ln>
        </p:spPr>
      </p:sp>
      <p:sp>
        <p:nvSpPr>
          <p:cNvPr id="24" name="Text 22"/>
          <p:cNvSpPr/>
          <p:nvPr/>
        </p:nvSpPr>
        <p:spPr>
          <a:xfrm>
            <a:off x="6263640" y="2359152"/>
            <a:ext cx="2487168" cy="521208"/>
          </a:xfrm>
          <a:prstGeom prst="rect">
            <a:avLst/>
          </a:prstGeom>
          <a:noFill/>
          <a:ln/>
        </p:spPr>
        <p:txBody>
          <a:bodyPr wrap="square" lIns="0" tIns="0" rIns="0" bIns="0" rtlCol="0" anchor="ctr"/>
          <a:lstStyle/>
          <a:p>
            <a:pPr indent="0" marL="0">
              <a:buNone/>
            </a:pPr>
            <a:r>
              <a:rPr lang="en-US" sz="1050" dirty="0">
                <a:solidFill>
                  <a:srgbClr val="FFFFFF"/>
                </a:solidFill>
              </a:rPr>
              <a:t>SaaS annual contracts with hospital systems and IDNs</a:t>
            </a:r>
            <a:endParaRPr lang="en-US" sz="1050" dirty="0"/>
          </a:p>
        </p:txBody>
      </p:sp>
      <p:sp>
        <p:nvSpPr>
          <p:cNvPr id="25" name="Shape 23"/>
          <p:cNvSpPr/>
          <p:nvPr/>
        </p:nvSpPr>
        <p:spPr>
          <a:xfrm>
            <a:off x="6035040" y="2980944"/>
            <a:ext cx="128016" cy="128016"/>
          </a:xfrm>
          <a:prstGeom prst="ellipse">
            <a:avLst/>
          </a:prstGeom>
          <a:solidFill>
            <a:srgbClr val="C65323"/>
          </a:solidFill>
          <a:ln w="12700">
            <a:solidFill>
              <a:srgbClr val="C65323"/>
            </a:solidFill>
            <a:prstDash val="solid"/>
          </a:ln>
        </p:spPr>
      </p:sp>
      <p:sp>
        <p:nvSpPr>
          <p:cNvPr id="26" name="Text 24"/>
          <p:cNvSpPr/>
          <p:nvPr/>
        </p:nvSpPr>
        <p:spPr>
          <a:xfrm>
            <a:off x="6263640" y="2926080"/>
            <a:ext cx="2487168" cy="521208"/>
          </a:xfrm>
          <a:prstGeom prst="rect">
            <a:avLst/>
          </a:prstGeom>
          <a:noFill/>
          <a:ln/>
        </p:spPr>
        <p:txBody>
          <a:bodyPr wrap="square" lIns="0" tIns="0" rIns="0" bIns="0" rtlCol="0" anchor="ctr"/>
          <a:lstStyle/>
          <a:p>
            <a:pPr indent="0" marL="0">
              <a:buNone/>
            </a:pPr>
            <a:r>
              <a:rPr lang="en-US" sz="1050" dirty="0">
                <a:solidFill>
                  <a:srgbClr val="FFFFFF"/>
                </a:solidFill>
              </a:rPr>
              <a:t>Bundled into existing CarePath client plans as a retention driver</a:t>
            </a:r>
            <a:endParaRPr lang="en-US" sz="1050" dirty="0"/>
          </a:p>
        </p:txBody>
      </p:sp>
      <p:sp>
        <p:nvSpPr>
          <p:cNvPr id="27" name="Shape 25"/>
          <p:cNvSpPr/>
          <p:nvPr/>
        </p:nvSpPr>
        <p:spPr>
          <a:xfrm>
            <a:off x="6035040" y="3547872"/>
            <a:ext cx="128016" cy="128016"/>
          </a:xfrm>
          <a:prstGeom prst="ellipse">
            <a:avLst/>
          </a:prstGeom>
          <a:solidFill>
            <a:srgbClr val="C65323"/>
          </a:solidFill>
          <a:ln w="12700">
            <a:solidFill>
              <a:srgbClr val="C65323"/>
            </a:solidFill>
            <a:prstDash val="solid"/>
          </a:ln>
        </p:spPr>
      </p:sp>
      <p:sp>
        <p:nvSpPr>
          <p:cNvPr id="28" name="Text 26"/>
          <p:cNvSpPr/>
          <p:nvPr/>
        </p:nvSpPr>
        <p:spPr>
          <a:xfrm>
            <a:off x="6263640" y="3493008"/>
            <a:ext cx="2487168" cy="521208"/>
          </a:xfrm>
          <a:prstGeom prst="rect">
            <a:avLst/>
          </a:prstGeom>
          <a:noFill/>
          <a:ln/>
        </p:spPr>
        <p:txBody>
          <a:bodyPr wrap="square" lIns="0" tIns="0" rIns="0" bIns="0" rtlCol="0" anchor="ctr"/>
          <a:lstStyle/>
          <a:p>
            <a:pPr indent="0" marL="0">
              <a:buNone/>
            </a:pPr>
            <a:r>
              <a:rPr lang="en-US" sz="1050" dirty="0">
                <a:solidFill>
                  <a:srgbClr val="FFFFFF"/>
                </a:solidFill>
              </a:rPr>
              <a:t>Maryland HSCRC Readmission Reduction Incentive Program alignment</a:t>
            </a:r>
            <a:endParaRPr lang="en-US" sz="1050" dirty="0"/>
          </a:p>
        </p:txBody>
      </p:sp>
      <p:sp>
        <p:nvSpPr>
          <p:cNvPr id="29" name="Shape 27"/>
          <p:cNvSpPr/>
          <p:nvPr/>
        </p:nvSpPr>
        <p:spPr>
          <a:xfrm>
            <a:off x="6035040" y="4114800"/>
            <a:ext cx="128016" cy="128016"/>
          </a:xfrm>
          <a:prstGeom prst="ellipse">
            <a:avLst/>
          </a:prstGeom>
          <a:solidFill>
            <a:srgbClr val="C65323"/>
          </a:solidFill>
          <a:ln w="12700">
            <a:solidFill>
              <a:srgbClr val="C65323"/>
            </a:solidFill>
            <a:prstDash val="solid"/>
          </a:ln>
        </p:spPr>
      </p:sp>
      <p:sp>
        <p:nvSpPr>
          <p:cNvPr id="30" name="Text 28"/>
          <p:cNvSpPr/>
          <p:nvPr/>
        </p:nvSpPr>
        <p:spPr>
          <a:xfrm>
            <a:off x="6263640" y="4059936"/>
            <a:ext cx="2487168" cy="521208"/>
          </a:xfrm>
          <a:prstGeom prst="rect">
            <a:avLst/>
          </a:prstGeom>
          <a:noFill/>
          <a:ln/>
        </p:spPr>
        <p:txBody>
          <a:bodyPr wrap="square" lIns="0" tIns="0" rIns="0" bIns="0" rtlCol="0" anchor="ctr"/>
          <a:lstStyle/>
          <a:p>
            <a:pPr indent="0" marL="0">
              <a:buNone/>
            </a:pPr>
            <a:r>
              <a:rPr lang="en-US" sz="1050" dirty="0">
                <a:solidFill>
                  <a:srgbClr val="FFFFFF"/>
                </a:solidFill>
              </a:rPr>
              <a:t>Payer partnerships: commercial insurers and Medicaid MCOs</a:t>
            </a:r>
            <a:endParaRPr lang="en-US" sz="1050" dirty="0"/>
          </a:p>
        </p:txBody>
      </p:sp>
      <p:sp>
        <p:nvSpPr>
          <p:cNvPr id="31" name="Shape 29"/>
          <p:cNvSpPr/>
          <p:nvPr/>
        </p:nvSpPr>
        <p:spPr>
          <a:xfrm>
            <a:off x="0" y="4663440"/>
            <a:ext cx="9144000" cy="480060"/>
          </a:xfrm>
          <a:prstGeom prst="rect">
            <a:avLst/>
          </a:prstGeom>
          <a:solidFill>
            <a:srgbClr val="C65323"/>
          </a:solidFill>
          <a:ln w="12700">
            <a:solidFill>
              <a:srgbClr val="C65323"/>
            </a:solidFill>
            <a:prstDash val="solid"/>
          </a:ln>
        </p:spPr>
      </p:sp>
      <p:sp>
        <p:nvSpPr>
          <p:cNvPr id="32" name="Text 30"/>
          <p:cNvSpPr/>
          <p:nvPr/>
        </p:nvSpPr>
        <p:spPr>
          <a:xfrm>
            <a:off x="274320" y="4709160"/>
            <a:ext cx="8595360" cy="365760"/>
          </a:xfrm>
          <a:prstGeom prst="rect">
            <a:avLst/>
          </a:prstGeom>
          <a:noFill/>
          <a:ln/>
        </p:spPr>
        <p:txBody>
          <a:bodyPr wrap="square" lIns="0" tIns="0" rIns="0" bIns="0" rtlCol="0" anchor="ctr"/>
          <a:lstStyle/>
          <a:p>
            <a:pPr indent="0" marL="0">
              <a:buNone/>
            </a:pPr>
            <a:r>
              <a:rPr lang="en-US" sz="1000" b="1" dirty="0">
                <a:solidFill>
                  <a:srgbClr val="FFFFFF"/>
                </a:solidFill>
              </a:rPr>
              <a:t>Maryland angle: HSCRC runs its own Readmission Reduction Incentive Program. CarePath already operates in this market.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7F6"/>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73F43"/>
          </a:solidFill>
          <a:ln w="12700">
            <a:solidFill>
              <a:srgbClr val="073F43"/>
            </a:solidFill>
            <a:prstDash val="solid"/>
          </a:ln>
        </p:spPr>
      </p:sp>
      <p:sp>
        <p:nvSpPr>
          <p:cNvPr id="3" name="Text 1"/>
          <p:cNvSpPr/>
          <p:nvPr/>
        </p:nvSpPr>
        <p:spPr>
          <a:xfrm>
            <a:off x="457200" y="54864"/>
            <a:ext cx="8229600" cy="274320"/>
          </a:xfrm>
          <a:prstGeom prst="rect">
            <a:avLst/>
          </a:prstGeom>
          <a:noFill/>
          <a:ln/>
        </p:spPr>
        <p:txBody>
          <a:bodyPr wrap="square" lIns="0" tIns="0" rIns="0" bIns="0" rtlCol="0" anchor="ctr"/>
          <a:lstStyle/>
          <a:p>
            <a:pPr indent="0" marL="0">
              <a:buNone/>
            </a:pPr>
            <a:r>
              <a:rPr lang="en-US" sz="900" b="1" spc="400" kern="0" dirty="0">
                <a:solidFill>
                  <a:srgbClr val="D9EFF0"/>
                </a:solidFill>
              </a:rPr>
              <a:t>HOW IT WORKS</a:t>
            </a:r>
            <a:endParaRPr lang="en-US" sz="900" dirty="0"/>
          </a:p>
        </p:txBody>
      </p:sp>
      <p:sp>
        <p:nvSpPr>
          <p:cNvPr id="4" name="Text 2"/>
          <p:cNvSpPr/>
          <p:nvPr/>
        </p:nvSpPr>
        <p:spPr>
          <a:xfrm>
            <a:off x="457200" y="384048"/>
            <a:ext cx="8229600" cy="521208"/>
          </a:xfrm>
          <a:prstGeom prst="rect">
            <a:avLst/>
          </a:prstGeom>
          <a:noFill/>
          <a:ln/>
        </p:spPr>
        <p:txBody>
          <a:bodyPr wrap="square" lIns="0" tIns="0" rIns="0" bIns="0" rtlCol="0" anchor="ctr"/>
          <a:lstStyle/>
          <a:p>
            <a:pPr indent="0" marL="0">
              <a:buNone/>
            </a:pPr>
            <a:r>
              <a:rPr lang="en-US" sz="1700" b="1" dirty="0">
                <a:solidFill>
                  <a:srgbClr val="FFFFFF"/>
                </a:solidFill>
              </a:rPr>
              <a:t>CarePath Transitions connects the hospital to the home with a verified, actionable recovery plan.</a:t>
            </a:r>
            <a:endParaRPr lang="en-US" sz="1700" dirty="0"/>
          </a:p>
        </p:txBody>
      </p:sp>
      <p:sp>
        <p:nvSpPr>
          <p:cNvPr id="5" name="Shape 3"/>
          <p:cNvSpPr/>
          <p:nvPr/>
        </p:nvSpPr>
        <p:spPr>
          <a:xfrm>
            <a:off x="320040" y="1097280"/>
            <a:ext cx="1993392" cy="3657600"/>
          </a:xfrm>
          <a:prstGeom prst="rect">
            <a:avLst/>
          </a:prstGeom>
          <a:solidFill>
            <a:srgbClr val="FFFFFF"/>
          </a:solidFill>
          <a:ln w="12700">
            <a:solidFill>
              <a:srgbClr val="CBD6D3"/>
            </a:solidFill>
            <a:prstDash val="solid"/>
          </a:ln>
          <a:effectLst>
            <a:outerShdw sx="100000" sy="100000" kx="0" ky="0" algn="bl" rotWithShape="0" blurRad="101600" dist="25400" dir="8100000">
              <a:srgbClr val="000000">
                <a:alpha val="9000"/>
              </a:srgbClr>
            </a:outerShdw>
          </a:effectLst>
        </p:spPr>
      </p:sp>
      <p:sp>
        <p:nvSpPr>
          <p:cNvPr id="6" name="Shape 4"/>
          <p:cNvSpPr/>
          <p:nvPr/>
        </p:nvSpPr>
        <p:spPr>
          <a:xfrm>
            <a:off x="320040" y="1097280"/>
            <a:ext cx="1993392" cy="1024128"/>
          </a:xfrm>
          <a:prstGeom prst="rect">
            <a:avLst/>
          </a:prstGeom>
          <a:solidFill>
            <a:srgbClr val="08737B"/>
          </a:solidFill>
          <a:ln w="12700">
            <a:solidFill>
              <a:srgbClr val="08737B"/>
            </a:solidFill>
            <a:prstDash val="solid"/>
          </a:ln>
        </p:spPr>
      </p:sp>
      <p:sp>
        <p:nvSpPr>
          <p:cNvPr id="7" name="Shape 5"/>
          <p:cNvSpPr/>
          <p:nvPr/>
        </p:nvSpPr>
        <p:spPr>
          <a:xfrm>
            <a:off x="1078992" y="1161288"/>
            <a:ext cx="475488" cy="475488"/>
          </a:xfrm>
          <a:prstGeom prst="ellipse">
            <a:avLst/>
          </a:prstGeom>
          <a:solidFill>
            <a:srgbClr val="FFFFFF"/>
          </a:solidFill>
          <a:ln w="12700">
            <a:solidFill>
              <a:srgbClr val="FFFFFF"/>
            </a:solidFill>
            <a:prstDash val="solid"/>
          </a:ln>
        </p:spPr>
      </p:sp>
      <p:sp>
        <p:nvSpPr>
          <p:cNvPr id="8" name="Text 6"/>
          <p:cNvSpPr/>
          <p:nvPr/>
        </p:nvSpPr>
        <p:spPr>
          <a:xfrm>
            <a:off x="1078992" y="1170432"/>
            <a:ext cx="475488" cy="457200"/>
          </a:xfrm>
          <a:prstGeom prst="rect">
            <a:avLst/>
          </a:prstGeom>
          <a:noFill/>
          <a:ln/>
        </p:spPr>
        <p:txBody>
          <a:bodyPr wrap="square" lIns="0" tIns="0" rIns="0" bIns="0" rtlCol="0" anchor="ctr"/>
          <a:lstStyle/>
          <a:p>
            <a:pPr algn="ctr" indent="0" marL="0">
              <a:buNone/>
            </a:pPr>
            <a:r>
              <a:rPr lang="en-US" sz="1600" b="1" dirty="0">
                <a:solidFill>
                  <a:srgbClr val="08737B"/>
                </a:solidFill>
              </a:rPr>
              <a:t>1</a:t>
            </a:r>
            <a:endParaRPr lang="en-US" sz="1600" dirty="0"/>
          </a:p>
        </p:txBody>
      </p:sp>
      <p:sp>
        <p:nvSpPr>
          <p:cNvPr id="9" name="Text 7"/>
          <p:cNvSpPr/>
          <p:nvPr/>
        </p:nvSpPr>
        <p:spPr>
          <a:xfrm>
            <a:off x="393192" y="1664208"/>
            <a:ext cx="1847088" cy="274320"/>
          </a:xfrm>
          <a:prstGeom prst="rect">
            <a:avLst/>
          </a:prstGeom>
          <a:noFill/>
          <a:ln/>
        </p:spPr>
        <p:txBody>
          <a:bodyPr wrap="square" lIns="0" tIns="0" rIns="0" bIns="0" rtlCol="0" anchor="ctr"/>
          <a:lstStyle/>
          <a:p>
            <a:pPr algn="ctr" indent="0" marL="0">
              <a:buNone/>
            </a:pPr>
            <a:r>
              <a:rPr lang="en-US" sz="1100" b="1" dirty="0">
                <a:solidFill>
                  <a:srgbClr val="FFFFFF"/>
                </a:solidFill>
              </a:rPr>
              <a:t>Intake</a:t>
            </a:r>
            <a:endParaRPr lang="en-US" sz="1100" dirty="0"/>
          </a:p>
        </p:txBody>
      </p:sp>
      <p:sp>
        <p:nvSpPr>
          <p:cNvPr id="10" name="Text 8"/>
          <p:cNvSpPr/>
          <p:nvPr/>
        </p:nvSpPr>
        <p:spPr>
          <a:xfrm>
            <a:off x="393192" y="1947672"/>
            <a:ext cx="1847088" cy="347472"/>
          </a:xfrm>
          <a:prstGeom prst="rect">
            <a:avLst/>
          </a:prstGeom>
          <a:noFill/>
          <a:ln/>
        </p:spPr>
        <p:txBody>
          <a:bodyPr wrap="square" lIns="0" tIns="0" rIns="0" bIns="0" rtlCol="0" anchor="ctr"/>
          <a:lstStyle/>
          <a:p>
            <a:pPr algn="ctr" indent="0" marL="0">
              <a:buNone/>
            </a:pPr>
            <a:r>
              <a:rPr lang="en-US" sz="950" i="1" dirty="0">
                <a:solidFill>
                  <a:srgbClr val="D9EFF0"/>
                </a:solidFill>
              </a:rPr>
              <a:t>Capture the Discharge Plan</a:t>
            </a:r>
            <a:endParaRPr lang="en-US" sz="950" dirty="0"/>
          </a:p>
        </p:txBody>
      </p:sp>
      <p:sp>
        <p:nvSpPr>
          <p:cNvPr id="11" name="Shape 9"/>
          <p:cNvSpPr/>
          <p:nvPr/>
        </p:nvSpPr>
        <p:spPr>
          <a:xfrm>
            <a:off x="502920" y="2331720"/>
            <a:ext cx="1627632" cy="0"/>
          </a:xfrm>
          <a:prstGeom prst="line">
            <a:avLst/>
          </a:prstGeom>
          <a:noFill/>
          <a:ln w="6350">
            <a:solidFill>
              <a:srgbClr val="CBD6D3"/>
            </a:solidFill>
            <a:prstDash val="solid"/>
          </a:ln>
        </p:spPr>
      </p:sp>
      <p:sp>
        <p:nvSpPr>
          <p:cNvPr id="12" name="Text 10"/>
          <p:cNvSpPr/>
          <p:nvPr/>
        </p:nvSpPr>
        <p:spPr>
          <a:xfrm>
            <a:off x="411480" y="2423160"/>
            <a:ext cx="1828800" cy="21945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72525"/>
                </a:solidFill>
              </a:rPr>
              <a:t>PDF or photo upload</a:t>
            </a:r>
            <a:endParaRPr lang="en-US" sz="950" dirty="0"/>
          </a:p>
          <a:p>
            <a:pPr marL="342900" indent="-342900">
              <a:spcAft>
                <a:spcPts val="500"/>
              </a:spcAft>
              <a:buSzPct val="100000"/>
              <a:buChar char="•"/>
            </a:pPr>
            <a:r>
              <a:rPr lang="en-US" sz="950" dirty="0">
                <a:solidFill>
                  <a:srgbClr val="172525"/>
                </a:solidFill>
              </a:rPr>
              <a:t>FHIR hospital import (Phase 2)</a:t>
            </a:r>
            <a:endParaRPr lang="en-US" sz="950" dirty="0"/>
          </a:p>
          <a:p>
            <a:pPr marL="342900" indent="-342900">
              <a:spcAft>
                <a:spcPts val="500"/>
              </a:spcAft>
              <a:buSzPct val="100000"/>
              <a:buChar char="•"/>
            </a:pPr>
            <a:r>
              <a:rPr lang="en-US" sz="950" dirty="0">
                <a:solidFill>
                  <a:srgbClr val="172525"/>
                </a:solidFill>
              </a:rPr>
              <a:t>AI-structured extraction</a:t>
            </a:r>
            <a:endParaRPr lang="en-US" sz="950" dirty="0"/>
          </a:p>
          <a:p>
            <a:pPr marL="342900" indent="-342900">
              <a:spcAft>
                <a:spcPts val="500"/>
              </a:spcAft>
              <a:buSzPct val="100000"/>
              <a:buChar char="•"/>
            </a:pPr>
            <a:r>
              <a:rPr lang="en-US" sz="950" dirty="0">
                <a:solidFill>
                  <a:srgbClr val="172525"/>
                </a:solidFill>
              </a:rPr>
              <a:t>Source text preserved per item</a:t>
            </a:r>
            <a:endParaRPr lang="en-US" sz="950" dirty="0"/>
          </a:p>
        </p:txBody>
      </p:sp>
      <p:sp>
        <p:nvSpPr>
          <p:cNvPr id="13" name="Shape 11"/>
          <p:cNvSpPr/>
          <p:nvPr/>
        </p:nvSpPr>
        <p:spPr>
          <a:xfrm>
            <a:off x="2313432" y="2505456"/>
            <a:ext cx="182880" cy="64008"/>
          </a:xfrm>
          <a:prstGeom prst="rect">
            <a:avLst/>
          </a:prstGeom>
          <a:solidFill>
            <a:srgbClr val="60706E"/>
          </a:solidFill>
          <a:ln w="12700">
            <a:solidFill>
              <a:srgbClr val="60706E"/>
            </a:solidFill>
            <a:prstDash val="solid"/>
          </a:ln>
        </p:spPr>
      </p:sp>
      <p:sp>
        <p:nvSpPr>
          <p:cNvPr id="14" name="Shape 12"/>
          <p:cNvSpPr/>
          <p:nvPr/>
        </p:nvSpPr>
        <p:spPr>
          <a:xfrm>
            <a:off x="2496312" y="1097280"/>
            <a:ext cx="1993392" cy="3657600"/>
          </a:xfrm>
          <a:prstGeom prst="rect">
            <a:avLst/>
          </a:prstGeom>
          <a:solidFill>
            <a:srgbClr val="FFFFFF"/>
          </a:solidFill>
          <a:ln w="12700">
            <a:solidFill>
              <a:srgbClr val="CBD6D3"/>
            </a:solidFill>
            <a:prstDash val="solid"/>
          </a:ln>
          <a:effectLst>
            <a:outerShdw sx="100000" sy="100000" kx="0" ky="0" algn="bl" rotWithShape="0" blurRad="101600" dist="25400" dir="8100000">
              <a:srgbClr val="000000">
                <a:alpha val="9000"/>
              </a:srgbClr>
            </a:outerShdw>
          </a:effectLst>
        </p:spPr>
      </p:sp>
      <p:sp>
        <p:nvSpPr>
          <p:cNvPr id="15" name="Shape 13"/>
          <p:cNvSpPr/>
          <p:nvPr/>
        </p:nvSpPr>
        <p:spPr>
          <a:xfrm>
            <a:off x="2496312" y="1097280"/>
            <a:ext cx="1993392" cy="1024128"/>
          </a:xfrm>
          <a:prstGeom prst="rect">
            <a:avLst/>
          </a:prstGeom>
          <a:solidFill>
            <a:srgbClr val="C65323"/>
          </a:solidFill>
          <a:ln w="12700">
            <a:solidFill>
              <a:srgbClr val="C65323"/>
            </a:solidFill>
            <a:prstDash val="solid"/>
          </a:ln>
        </p:spPr>
      </p:sp>
      <p:sp>
        <p:nvSpPr>
          <p:cNvPr id="16" name="Shape 14"/>
          <p:cNvSpPr/>
          <p:nvPr/>
        </p:nvSpPr>
        <p:spPr>
          <a:xfrm>
            <a:off x="3255264" y="1161288"/>
            <a:ext cx="475488" cy="475488"/>
          </a:xfrm>
          <a:prstGeom prst="ellipse">
            <a:avLst/>
          </a:prstGeom>
          <a:solidFill>
            <a:srgbClr val="FFFFFF"/>
          </a:solidFill>
          <a:ln w="12700">
            <a:solidFill>
              <a:srgbClr val="FFFFFF"/>
            </a:solidFill>
            <a:prstDash val="solid"/>
          </a:ln>
        </p:spPr>
      </p:sp>
      <p:sp>
        <p:nvSpPr>
          <p:cNvPr id="17" name="Text 15"/>
          <p:cNvSpPr/>
          <p:nvPr/>
        </p:nvSpPr>
        <p:spPr>
          <a:xfrm>
            <a:off x="3255264" y="1170432"/>
            <a:ext cx="475488" cy="457200"/>
          </a:xfrm>
          <a:prstGeom prst="rect">
            <a:avLst/>
          </a:prstGeom>
          <a:noFill/>
          <a:ln/>
        </p:spPr>
        <p:txBody>
          <a:bodyPr wrap="square" lIns="0" tIns="0" rIns="0" bIns="0" rtlCol="0" anchor="ctr"/>
          <a:lstStyle/>
          <a:p>
            <a:pPr algn="ctr" indent="0" marL="0">
              <a:buNone/>
            </a:pPr>
            <a:r>
              <a:rPr lang="en-US" sz="1600" b="1" dirty="0">
                <a:solidFill>
                  <a:srgbClr val="C65323"/>
                </a:solidFill>
              </a:rPr>
              <a:t>2</a:t>
            </a:r>
            <a:endParaRPr lang="en-US" sz="1600" dirty="0"/>
          </a:p>
        </p:txBody>
      </p:sp>
      <p:sp>
        <p:nvSpPr>
          <p:cNvPr id="18" name="Text 16"/>
          <p:cNvSpPr/>
          <p:nvPr/>
        </p:nvSpPr>
        <p:spPr>
          <a:xfrm>
            <a:off x="2569464" y="1664208"/>
            <a:ext cx="1847088" cy="274320"/>
          </a:xfrm>
          <a:prstGeom prst="rect">
            <a:avLst/>
          </a:prstGeom>
          <a:noFill/>
          <a:ln/>
        </p:spPr>
        <p:txBody>
          <a:bodyPr wrap="square" lIns="0" tIns="0" rIns="0" bIns="0" rtlCol="0" anchor="ctr"/>
          <a:lstStyle/>
          <a:p>
            <a:pPr algn="ctr" indent="0" marL="0">
              <a:buNone/>
            </a:pPr>
            <a:r>
              <a:rPr lang="en-US" sz="1100" b="1" dirty="0">
                <a:solidFill>
                  <a:srgbClr val="FFFFFF"/>
                </a:solidFill>
              </a:rPr>
              <a:t>Verify</a:t>
            </a:r>
            <a:endParaRPr lang="en-US" sz="1100" dirty="0"/>
          </a:p>
        </p:txBody>
      </p:sp>
      <p:sp>
        <p:nvSpPr>
          <p:cNvPr id="19" name="Text 17"/>
          <p:cNvSpPr/>
          <p:nvPr/>
        </p:nvSpPr>
        <p:spPr>
          <a:xfrm>
            <a:off x="2569464" y="1947672"/>
            <a:ext cx="1847088" cy="347472"/>
          </a:xfrm>
          <a:prstGeom prst="rect">
            <a:avLst/>
          </a:prstGeom>
          <a:noFill/>
          <a:ln/>
        </p:spPr>
        <p:txBody>
          <a:bodyPr wrap="square" lIns="0" tIns="0" rIns="0" bIns="0" rtlCol="0" anchor="ctr"/>
          <a:lstStyle/>
          <a:p>
            <a:pPr algn="ctr" indent="0" marL="0">
              <a:buNone/>
            </a:pPr>
            <a:r>
              <a:rPr lang="en-US" sz="950" i="1" dirty="0">
                <a:solidFill>
                  <a:srgbClr val="D9EFF0"/>
                </a:solidFill>
              </a:rPr>
              <a:t>Clinical Approval</a:t>
            </a:r>
            <a:endParaRPr lang="en-US" sz="950" dirty="0"/>
          </a:p>
        </p:txBody>
      </p:sp>
      <p:sp>
        <p:nvSpPr>
          <p:cNvPr id="20" name="Shape 18"/>
          <p:cNvSpPr/>
          <p:nvPr/>
        </p:nvSpPr>
        <p:spPr>
          <a:xfrm>
            <a:off x="2679192" y="2331720"/>
            <a:ext cx="1627632" cy="0"/>
          </a:xfrm>
          <a:prstGeom prst="line">
            <a:avLst/>
          </a:prstGeom>
          <a:noFill/>
          <a:ln w="6350">
            <a:solidFill>
              <a:srgbClr val="CBD6D3"/>
            </a:solidFill>
            <a:prstDash val="solid"/>
          </a:ln>
        </p:spPr>
      </p:sp>
      <p:sp>
        <p:nvSpPr>
          <p:cNvPr id="21" name="Text 19"/>
          <p:cNvSpPr/>
          <p:nvPr/>
        </p:nvSpPr>
        <p:spPr>
          <a:xfrm>
            <a:off x="2587752" y="2423160"/>
            <a:ext cx="1828800" cy="21945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72525"/>
                </a:solidFill>
              </a:rPr>
              <a:t>Clinician reviews AI draft</a:t>
            </a:r>
            <a:endParaRPr lang="en-US" sz="950" dirty="0"/>
          </a:p>
          <a:p>
            <a:pPr marL="342900" indent="-342900">
              <a:spcAft>
                <a:spcPts val="500"/>
              </a:spcAft>
              <a:buSzPct val="100000"/>
              <a:buChar char="•"/>
            </a:pPr>
            <a:r>
              <a:rPr lang="en-US" sz="950" dirty="0">
                <a:solidFill>
                  <a:srgbClr val="172525"/>
                </a:solidFill>
              </a:rPr>
              <a:t>Conflicts and gaps flagged</a:t>
            </a:r>
            <a:endParaRPr lang="en-US" sz="950" dirty="0"/>
          </a:p>
          <a:p>
            <a:pPr marL="342900" indent="-342900">
              <a:spcAft>
                <a:spcPts val="500"/>
              </a:spcAft>
              <a:buSzPct val="100000"/>
              <a:buChar char="•"/>
            </a:pPr>
            <a:r>
              <a:rPr lang="en-US" sz="950" dirty="0">
                <a:solidFill>
                  <a:srgbClr val="172525"/>
                </a:solidFill>
              </a:rPr>
              <a:t>Medication reconciliation</a:t>
            </a:r>
            <a:endParaRPr lang="en-US" sz="950" dirty="0"/>
          </a:p>
          <a:p>
            <a:pPr marL="342900" indent="-342900">
              <a:spcAft>
                <a:spcPts val="500"/>
              </a:spcAft>
              <a:buSzPct val="100000"/>
              <a:buChar char="•"/>
            </a:pPr>
            <a:r>
              <a:rPr lang="en-US" sz="950" dirty="0">
                <a:solidFill>
                  <a:srgbClr val="172525"/>
                </a:solidFill>
              </a:rPr>
              <a:t>E-signature activates plan</a:t>
            </a:r>
            <a:endParaRPr lang="en-US" sz="950" dirty="0"/>
          </a:p>
        </p:txBody>
      </p:sp>
      <p:sp>
        <p:nvSpPr>
          <p:cNvPr id="22" name="Shape 20"/>
          <p:cNvSpPr/>
          <p:nvPr/>
        </p:nvSpPr>
        <p:spPr>
          <a:xfrm>
            <a:off x="4489704" y="2505456"/>
            <a:ext cx="182880" cy="64008"/>
          </a:xfrm>
          <a:prstGeom prst="rect">
            <a:avLst/>
          </a:prstGeom>
          <a:solidFill>
            <a:srgbClr val="60706E"/>
          </a:solidFill>
          <a:ln w="12700">
            <a:solidFill>
              <a:srgbClr val="60706E"/>
            </a:solidFill>
            <a:prstDash val="solid"/>
          </a:ln>
        </p:spPr>
      </p:sp>
      <p:sp>
        <p:nvSpPr>
          <p:cNvPr id="23" name="Shape 21"/>
          <p:cNvSpPr/>
          <p:nvPr/>
        </p:nvSpPr>
        <p:spPr>
          <a:xfrm>
            <a:off x="4672584" y="1097280"/>
            <a:ext cx="1993392" cy="3657600"/>
          </a:xfrm>
          <a:prstGeom prst="rect">
            <a:avLst/>
          </a:prstGeom>
          <a:solidFill>
            <a:srgbClr val="FFFFFF"/>
          </a:solidFill>
          <a:ln w="12700">
            <a:solidFill>
              <a:srgbClr val="CBD6D3"/>
            </a:solidFill>
            <a:prstDash val="solid"/>
          </a:ln>
          <a:effectLst>
            <a:outerShdw sx="100000" sy="100000" kx="0" ky="0" algn="bl" rotWithShape="0" blurRad="101600" dist="25400" dir="8100000">
              <a:srgbClr val="000000">
                <a:alpha val="9000"/>
              </a:srgbClr>
            </a:outerShdw>
          </a:effectLst>
        </p:spPr>
      </p:sp>
      <p:sp>
        <p:nvSpPr>
          <p:cNvPr id="24" name="Shape 22"/>
          <p:cNvSpPr/>
          <p:nvPr/>
        </p:nvSpPr>
        <p:spPr>
          <a:xfrm>
            <a:off x="4672584" y="1097280"/>
            <a:ext cx="1993392" cy="1024128"/>
          </a:xfrm>
          <a:prstGeom prst="rect">
            <a:avLst/>
          </a:prstGeom>
          <a:solidFill>
            <a:srgbClr val="24734F"/>
          </a:solidFill>
          <a:ln w="12700">
            <a:solidFill>
              <a:srgbClr val="24734F"/>
            </a:solidFill>
            <a:prstDash val="solid"/>
          </a:ln>
        </p:spPr>
      </p:sp>
      <p:sp>
        <p:nvSpPr>
          <p:cNvPr id="25" name="Shape 23"/>
          <p:cNvSpPr/>
          <p:nvPr/>
        </p:nvSpPr>
        <p:spPr>
          <a:xfrm>
            <a:off x="5431536" y="1161288"/>
            <a:ext cx="475488" cy="475488"/>
          </a:xfrm>
          <a:prstGeom prst="ellipse">
            <a:avLst/>
          </a:prstGeom>
          <a:solidFill>
            <a:srgbClr val="FFFFFF"/>
          </a:solidFill>
          <a:ln w="12700">
            <a:solidFill>
              <a:srgbClr val="FFFFFF"/>
            </a:solidFill>
            <a:prstDash val="solid"/>
          </a:ln>
        </p:spPr>
      </p:sp>
      <p:sp>
        <p:nvSpPr>
          <p:cNvPr id="26" name="Text 24"/>
          <p:cNvSpPr/>
          <p:nvPr/>
        </p:nvSpPr>
        <p:spPr>
          <a:xfrm>
            <a:off x="5431536" y="1170432"/>
            <a:ext cx="475488" cy="457200"/>
          </a:xfrm>
          <a:prstGeom prst="rect">
            <a:avLst/>
          </a:prstGeom>
          <a:noFill/>
          <a:ln/>
        </p:spPr>
        <p:txBody>
          <a:bodyPr wrap="square" lIns="0" tIns="0" rIns="0" bIns="0" rtlCol="0" anchor="ctr"/>
          <a:lstStyle/>
          <a:p>
            <a:pPr algn="ctr" indent="0" marL="0">
              <a:buNone/>
            </a:pPr>
            <a:r>
              <a:rPr lang="en-US" sz="1600" b="1" dirty="0">
                <a:solidFill>
                  <a:srgbClr val="24734F"/>
                </a:solidFill>
              </a:rPr>
              <a:t>3</a:t>
            </a:r>
            <a:endParaRPr lang="en-US" sz="1600" dirty="0"/>
          </a:p>
        </p:txBody>
      </p:sp>
      <p:sp>
        <p:nvSpPr>
          <p:cNvPr id="27" name="Text 25"/>
          <p:cNvSpPr/>
          <p:nvPr/>
        </p:nvSpPr>
        <p:spPr>
          <a:xfrm>
            <a:off x="4745736" y="1664208"/>
            <a:ext cx="1847088" cy="274320"/>
          </a:xfrm>
          <a:prstGeom prst="rect">
            <a:avLst/>
          </a:prstGeom>
          <a:noFill/>
          <a:ln/>
        </p:spPr>
        <p:txBody>
          <a:bodyPr wrap="square" lIns="0" tIns="0" rIns="0" bIns="0" rtlCol="0" anchor="ctr"/>
          <a:lstStyle/>
          <a:p>
            <a:pPr algn="ctr" indent="0" marL="0">
              <a:buNone/>
            </a:pPr>
            <a:r>
              <a:rPr lang="en-US" sz="1100" b="1" dirty="0">
                <a:solidFill>
                  <a:srgbClr val="FFFFFF"/>
                </a:solidFill>
              </a:rPr>
              <a:t>Guide</a:t>
            </a:r>
            <a:endParaRPr lang="en-US" sz="1100" dirty="0"/>
          </a:p>
        </p:txBody>
      </p:sp>
      <p:sp>
        <p:nvSpPr>
          <p:cNvPr id="28" name="Text 26"/>
          <p:cNvSpPr/>
          <p:nvPr/>
        </p:nvSpPr>
        <p:spPr>
          <a:xfrm>
            <a:off x="4745736" y="1947672"/>
            <a:ext cx="1847088" cy="347472"/>
          </a:xfrm>
          <a:prstGeom prst="rect">
            <a:avLst/>
          </a:prstGeom>
          <a:noFill/>
          <a:ln/>
        </p:spPr>
        <p:txBody>
          <a:bodyPr wrap="square" lIns="0" tIns="0" rIns="0" bIns="0" rtlCol="0" anchor="ctr"/>
          <a:lstStyle/>
          <a:p>
            <a:pPr algn="ctr" indent="0" marL="0">
              <a:buNone/>
            </a:pPr>
            <a:r>
              <a:rPr lang="en-US" sz="950" i="1" dirty="0">
                <a:solidFill>
                  <a:srgbClr val="D9EFF0"/>
                </a:solidFill>
              </a:rPr>
              <a:t>30 Days of Daily Support</a:t>
            </a:r>
            <a:endParaRPr lang="en-US" sz="950" dirty="0"/>
          </a:p>
        </p:txBody>
      </p:sp>
      <p:sp>
        <p:nvSpPr>
          <p:cNvPr id="29" name="Shape 27"/>
          <p:cNvSpPr/>
          <p:nvPr/>
        </p:nvSpPr>
        <p:spPr>
          <a:xfrm>
            <a:off x="4855464" y="2331720"/>
            <a:ext cx="1627632" cy="0"/>
          </a:xfrm>
          <a:prstGeom prst="line">
            <a:avLst/>
          </a:prstGeom>
          <a:noFill/>
          <a:ln w="6350">
            <a:solidFill>
              <a:srgbClr val="CBD6D3"/>
            </a:solidFill>
            <a:prstDash val="solid"/>
          </a:ln>
        </p:spPr>
      </p:sp>
      <p:sp>
        <p:nvSpPr>
          <p:cNvPr id="30" name="Text 28"/>
          <p:cNvSpPr/>
          <p:nvPr/>
        </p:nvSpPr>
        <p:spPr>
          <a:xfrm>
            <a:off x="4764024" y="2423160"/>
            <a:ext cx="1828800" cy="21945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72525"/>
                </a:solidFill>
              </a:rPr>
              <a:t>Medication reminders (app + SMS)</a:t>
            </a:r>
            <a:endParaRPr lang="en-US" sz="950" dirty="0"/>
          </a:p>
          <a:p>
            <a:pPr marL="342900" indent="-342900">
              <a:spcAft>
                <a:spcPts val="500"/>
              </a:spcAft>
              <a:buSzPct val="100000"/>
              <a:buChar char="•"/>
            </a:pPr>
            <a:r>
              <a:rPr lang="en-US" sz="950" dirty="0">
                <a:solidFill>
                  <a:srgbClr val="172525"/>
                </a:solidFill>
              </a:rPr>
              <a:t>Appointment alerts</a:t>
            </a:r>
            <a:endParaRPr lang="en-US" sz="950" dirty="0"/>
          </a:p>
          <a:p>
            <a:pPr marL="342900" indent="-342900">
              <a:spcAft>
                <a:spcPts val="500"/>
              </a:spcAft>
              <a:buSzPct val="100000"/>
              <a:buChar char="•"/>
            </a:pPr>
            <a:r>
              <a:rPr lang="en-US" sz="950" dirty="0">
                <a:solidFill>
                  <a:srgbClr val="172525"/>
                </a:solidFill>
              </a:rPr>
              <a:t>Symptom check-in prompts</a:t>
            </a:r>
            <a:endParaRPr lang="en-US" sz="950" dirty="0"/>
          </a:p>
          <a:p>
            <a:pPr marL="342900" indent="-342900">
              <a:spcAft>
                <a:spcPts val="500"/>
              </a:spcAft>
              <a:buSzPct val="100000"/>
              <a:buChar char="•"/>
            </a:pPr>
            <a:r>
              <a:rPr lang="en-US" sz="950" dirty="0">
                <a:solidFill>
                  <a:srgbClr val="172525"/>
                </a:solidFill>
              </a:rPr>
              <a:t>Refill and task reminders</a:t>
            </a:r>
            <a:endParaRPr lang="en-US" sz="950" dirty="0"/>
          </a:p>
        </p:txBody>
      </p:sp>
      <p:sp>
        <p:nvSpPr>
          <p:cNvPr id="31" name="Shape 29"/>
          <p:cNvSpPr/>
          <p:nvPr/>
        </p:nvSpPr>
        <p:spPr>
          <a:xfrm>
            <a:off x="6665976" y="2505456"/>
            <a:ext cx="182880" cy="64008"/>
          </a:xfrm>
          <a:prstGeom prst="rect">
            <a:avLst/>
          </a:prstGeom>
          <a:solidFill>
            <a:srgbClr val="60706E"/>
          </a:solidFill>
          <a:ln w="12700">
            <a:solidFill>
              <a:srgbClr val="60706E"/>
            </a:solidFill>
            <a:prstDash val="solid"/>
          </a:ln>
        </p:spPr>
      </p:sp>
      <p:sp>
        <p:nvSpPr>
          <p:cNvPr id="32" name="Shape 30"/>
          <p:cNvSpPr/>
          <p:nvPr/>
        </p:nvSpPr>
        <p:spPr>
          <a:xfrm>
            <a:off x="6848856" y="1097280"/>
            <a:ext cx="1993392" cy="3657600"/>
          </a:xfrm>
          <a:prstGeom prst="rect">
            <a:avLst/>
          </a:prstGeom>
          <a:solidFill>
            <a:srgbClr val="FFFFFF"/>
          </a:solidFill>
          <a:ln w="12700">
            <a:solidFill>
              <a:srgbClr val="CBD6D3"/>
            </a:solidFill>
            <a:prstDash val="solid"/>
          </a:ln>
          <a:effectLst>
            <a:outerShdw sx="100000" sy="100000" kx="0" ky="0" algn="bl" rotWithShape="0" blurRad="101600" dist="25400" dir="8100000">
              <a:srgbClr val="000000">
                <a:alpha val="9000"/>
              </a:srgbClr>
            </a:outerShdw>
          </a:effectLst>
        </p:spPr>
      </p:sp>
      <p:sp>
        <p:nvSpPr>
          <p:cNvPr id="33" name="Shape 31"/>
          <p:cNvSpPr/>
          <p:nvPr/>
        </p:nvSpPr>
        <p:spPr>
          <a:xfrm>
            <a:off x="6848856" y="1097280"/>
            <a:ext cx="1993392" cy="1024128"/>
          </a:xfrm>
          <a:prstGeom prst="rect">
            <a:avLst/>
          </a:prstGeom>
          <a:solidFill>
            <a:srgbClr val="8A6100"/>
          </a:solidFill>
          <a:ln w="12700">
            <a:solidFill>
              <a:srgbClr val="8A6100"/>
            </a:solidFill>
            <a:prstDash val="solid"/>
          </a:ln>
        </p:spPr>
      </p:sp>
      <p:sp>
        <p:nvSpPr>
          <p:cNvPr id="34" name="Shape 32"/>
          <p:cNvSpPr/>
          <p:nvPr/>
        </p:nvSpPr>
        <p:spPr>
          <a:xfrm>
            <a:off x="7607808" y="1161288"/>
            <a:ext cx="475488" cy="475488"/>
          </a:xfrm>
          <a:prstGeom prst="ellipse">
            <a:avLst/>
          </a:prstGeom>
          <a:solidFill>
            <a:srgbClr val="FFFFFF"/>
          </a:solidFill>
          <a:ln w="12700">
            <a:solidFill>
              <a:srgbClr val="FFFFFF"/>
            </a:solidFill>
            <a:prstDash val="solid"/>
          </a:ln>
        </p:spPr>
      </p:sp>
      <p:sp>
        <p:nvSpPr>
          <p:cNvPr id="35" name="Text 33"/>
          <p:cNvSpPr/>
          <p:nvPr/>
        </p:nvSpPr>
        <p:spPr>
          <a:xfrm>
            <a:off x="7607808" y="1170432"/>
            <a:ext cx="475488" cy="457200"/>
          </a:xfrm>
          <a:prstGeom prst="rect">
            <a:avLst/>
          </a:prstGeom>
          <a:noFill/>
          <a:ln/>
        </p:spPr>
        <p:txBody>
          <a:bodyPr wrap="square" lIns="0" tIns="0" rIns="0" bIns="0" rtlCol="0" anchor="ctr"/>
          <a:lstStyle/>
          <a:p>
            <a:pPr algn="ctr" indent="0" marL="0">
              <a:buNone/>
            </a:pPr>
            <a:r>
              <a:rPr lang="en-US" sz="1600" b="1" dirty="0">
                <a:solidFill>
                  <a:srgbClr val="8A6100"/>
                </a:solidFill>
              </a:rPr>
              <a:t>4</a:t>
            </a:r>
            <a:endParaRPr lang="en-US" sz="1600" dirty="0"/>
          </a:p>
        </p:txBody>
      </p:sp>
      <p:sp>
        <p:nvSpPr>
          <p:cNvPr id="36" name="Text 34"/>
          <p:cNvSpPr/>
          <p:nvPr/>
        </p:nvSpPr>
        <p:spPr>
          <a:xfrm>
            <a:off x="6922008" y="1664208"/>
            <a:ext cx="1847088" cy="274320"/>
          </a:xfrm>
          <a:prstGeom prst="rect">
            <a:avLst/>
          </a:prstGeom>
          <a:noFill/>
          <a:ln/>
        </p:spPr>
        <p:txBody>
          <a:bodyPr wrap="square" lIns="0" tIns="0" rIns="0" bIns="0" rtlCol="0" anchor="ctr"/>
          <a:lstStyle/>
          <a:p>
            <a:pPr algn="ctr" indent="0" marL="0">
              <a:buNone/>
            </a:pPr>
            <a:r>
              <a:rPr lang="en-US" sz="1100" b="1" dirty="0">
                <a:solidFill>
                  <a:srgbClr val="FFFFFF"/>
                </a:solidFill>
              </a:rPr>
              <a:t>Escalate</a:t>
            </a:r>
            <a:endParaRPr lang="en-US" sz="1100" dirty="0"/>
          </a:p>
        </p:txBody>
      </p:sp>
      <p:sp>
        <p:nvSpPr>
          <p:cNvPr id="37" name="Text 35"/>
          <p:cNvSpPr/>
          <p:nvPr/>
        </p:nvSpPr>
        <p:spPr>
          <a:xfrm>
            <a:off x="6922008" y="1947672"/>
            <a:ext cx="1847088" cy="347472"/>
          </a:xfrm>
          <a:prstGeom prst="rect">
            <a:avLst/>
          </a:prstGeom>
          <a:noFill/>
          <a:ln/>
        </p:spPr>
        <p:txBody>
          <a:bodyPr wrap="square" lIns="0" tIns="0" rIns="0" bIns="0" rtlCol="0" anchor="ctr"/>
          <a:lstStyle/>
          <a:p>
            <a:pPr algn="ctr" indent="0" marL="0">
              <a:buNone/>
            </a:pPr>
            <a:r>
              <a:rPr lang="en-US" sz="950" i="1" dirty="0">
                <a:solidFill>
                  <a:srgbClr val="D9EFF0"/>
                </a:solidFill>
              </a:rPr>
              <a:t>Care-Team Coordination</a:t>
            </a:r>
            <a:endParaRPr lang="en-US" sz="950" dirty="0"/>
          </a:p>
        </p:txBody>
      </p:sp>
      <p:sp>
        <p:nvSpPr>
          <p:cNvPr id="38" name="Shape 36"/>
          <p:cNvSpPr/>
          <p:nvPr/>
        </p:nvSpPr>
        <p:spPr>
          <a:xfrm>
            <a:off x="7031736" y="2331720"/>
            <a:ext cx="1627632" cy="0"/>
          </a:xfrm>
          <a:prstGeom prst="line">
            <a:avLst/>
          </a:prstGeom>
          <a:noFill/>
          <a:ln w="6350">
            <a:solidFill>
              <a:srgbClr val="CBD6D3"/>
            </a:solidFill>
            <a:prstDash val="solid"/>
          </a:ln>
        </p:spPr>
      </p:sp>
      <p:sp>
        <p:nvSpPr>
          <p:cNvPr id="39" name="Text 37"/>
          <p:cNvSpPr/>
          <p:nvPr/>
        </p:nvSpPr>
        <p:spPr>
          <a:xfrm>
            <a:off x="6940296" y="2423160"/>
            <a:ext cx="1828800" cy="21945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72525"/>
                </a:solidFill>
              </a:rPr>
              <a:t>Missed task coordinator alerts</a:t>
            </a:r>
            <a:endParaRPr lang="en-US" sz="950" dirty="0"/>
          </a:p>
          <a:p>
            <a:pPr marL="342900" indent="-342900">
              <a:spcAft>
                <a:spcPts val="500"/>
              </a:spcAft>
              <a:buSzPct val="100000"/>
              <a:buChar char="•"/>
            </a:pPr>
            <a:r>
              <a:rPr lang="en-US" sz="950" dirty="0">
                <a:solidFill>
                  <a:srgbClr val="172525"/>
                </a:solidFill>
              </a:rPr>
              <a:t>Warning symptom escalation</a:t>
            </a:r>
            <a:endParaRPr lang="en-US" sz="950" dirty="0"/>
          </a:p>
          <a:p>
            <a:pPr marL="342900" indent="-342900">
              <a:spcAft>
                <a:spcPts val="500"/>
              </a:spcAft>
              <a:buSzPct val="100000"/>
              <a:buChar char="•"/>
            </a:pPr>
            <a:r>
              <a:rPr lang="en-US" sz="950" dirty="0">
                <a:solidFill>
                  <a:srgbClr val="172525"/>
                </a:solidFill>
              </a:rPr>
              <a:t>Family notifications</a:t>
            </a:r>
            <a:endParaRPr lang="en-US" sz="950" dirty="0"/>
          </a:p>
          <a:p>
            <a:pPr marL="342900" indent="-342900">
              <a:spcAft>
                <a:spcPts val="500"/>
              </a:spcAft>
              <a:buSzPct val="100000"/>
              <a:buChar char="•"/>
            </a:pPr>
            <a:r>
              <a:rPr lang="en-US" sz="950" dirty="0">
                <a:solidFill>
                  <a:srgbClr val="172525"/>
                </a:solidFill>
              </a:rPr>
              <a:t>Outcome dashboard</a:t>
            </a:r>
            <a:endParaRPr lang="en-US" sz="950" dirty="0"/>
          </a:p>
        </p:txBody>
      </p:sp>
      <p:sp>
        <p:nvSpPr>
          <p:cNvPr id="40" name="Shape 38"/>
          <p:cNvSpPr/>
          <p:nvPr/>
        </p:nvSpPr>
        <p:spPr>
          <a:xfrm>
            <a:off x="274320" y="4590288"/>
            <a:ext cx="8595360" cy="411480"/>
          </a:xfrm>
          <a:prstGeom prst="rect">
            <a:avLst/>
          </a:prstGeom>
          <a:solidFill>
            <a:srgbClr val="D9EFF0"/>
          </a:solidFill>
          <a:ln w="12700">
            <a:solidFill>
              <a:srgbClr val="CBD6D3"/>
            </a:solidFill>
            <a:prstDash val="solid"/>
          </a:ln>
        </p:spPr>
      </p:sp>
      <p:sp>
        <p:nvSpPr>
          <p:cNvPr id="41" name="Text 39"/>
          <p:cNvSpPr/>
          <p:nvPr/>
        </p:nvSpPr>
        <p:spPr>
          <a:xfrm>
            <a:off x="457200" y="4626864"/>
            <a:ext cx="8229600" cy="347472"/>
          </a:xfrm>
          <a:prstGeom prst="rect">
            <a:avLst/>
          </a:prstGeom>
          <a:noFill/>
          <a:ln/>
        </p:spPr>
        <p:txBody>
          <a:bodyPr wrap="square" lIns="0" tIns="0" rIns="0" bIns="0" rtlCol="0" anchor="ctr"/>
          <a:lstStyle/>
          <a:p>
            <a:pPr indent="0" marL="0">
              <a:buNone/>
            </a:pPr>
            <a:r>
              <a:rPr lang="en-US" sz="1000" b="1" dirty="0">
                <a:solidFill>
                  <a:srgbClr val="073F43"/>
                </a:solidFill>
              </a:rPr>
              <a:t>Built on existing CarePath entities: Client  ·  CarePlan  ·  Shift  ·  VisitNote  ·  CaregiverCertification — zero new data architecture required.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7F6"/>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73F43"/>
          </a:solidFill>
          <a:ln w="12700">
            <a:solidFill>
              <a:srgbClr val="073F43"/>
            </a:solidFill>
            <a:prstDash val="solid"/>
          </a:ln>
        </p:spPr>
      </p:sp>
      <p:sp>
        <p:nvSpPr>
          <p:cNvPr id="3" name="Text 1"/>
          <p:cNvSpPr/>
          <p:nvPr/>
        </p:nvSpPr>
        <p:spPr>
          <a:xfrm>
            <a:off x="457200" y="54864"/>
            <a:ext cx="8229600" cy="274320"/>
          </a:xfrm>
          <a:prstGeom prst="rect">
            <a:avLst/>
          </a:prstGeom>
          <a:noFill/>
          <a:ln/>
        </p:spPr>
        <p:txBody>
          <a:bodyPr wrap="square" lIns="0" tIns="0" rIns="0" bIns="0" rtlCol="0" anchor="ctr"/>
          <a:lstStyle/>
          <a:p>
            <a:pPr indent="0" marL="0">
              <a:buNone/>
            </a:pPr>
            <a:r>
              <a:rPr lang="en-US" sz="900" b="1" spc="400" kern="0" dirty="0">
                <a:solidFill>
                  <a:srgbClr val="D9EFF0"/>
                </a:solidFill>
              </a:rPr>
              <a:t>WHO USES CAREPATH TRANSITIONS</a:t>
            </a:r>
            <a:endParaRPr lang="en-US" sz="900" dirty="0"/>
          </a:p>
        </p:txBody>
      </p:sp>
      <p:sp>
        <p:nvSpPr>
          <p:cNvPr id="4" name="Text 2"/>
          <p:cNvSpPr/>
          <p:nvPr/>
        </p:nvSpPr>
        <p:spPr>
          <a:xfrm>
            <a:off x="457200" y="384048"/>
            <a:ext cx="8229600" cy="521208"/>
          </a:xfrm>
          <a:prstGeom prst="rect">
            <a:avLst/>
          </a:prstGeom>
          <a:noFill/>
          <a:ln/>
        </p:spPr>
        <p:txBody>
          <a:bodyPr wrap="square" lIns="0" tIns="0" rIns="0" bIns="0" rtlCol="0" anchor="ctr"/>
          <a:lstStyle/>
          <a:p>
            <a:pPr indent="0" marL="0">
              <a:buNone/>
            </a:pPr>
            <a:r>
              <a:rPr lang="en-US" sz="1700" b="1" dirty="0">
                <a:solidFill>
                  <a:srgbClr val="FFFFFF"/>
                </a:solidFill>
              </a:rPr>
              <a:t>Three distinct users — each sees only what they need to act on.</a:t>
            </a:r>
            <a:endParaRPr lang="en-US" sz="1700" dirty="0"/>
          </a:p>
        </p:txBody>
      </p:sp>
      <p:sp>
        <p:nvSpPr>
          <p:cNvPr id="5" name="Shape 3"/>
          <p:cNvSpPr/>
          <p:nvPr/>
        </p:nvSpPr>
        <p:spPr>
          <a:xfrm>
            <a:off x="320040" y="1097280"/>
            <a:ext cx="2697480" cy="3822192"/>
          </a:xfrm>
          <a:prstGeom prst="rect">
            <a:avLst/>
          </a:prstGeom>
          <a:solidFill>
            <a:srgbClr val="FFFFFF"/>
          </a:solidFill>
          <a:ln w="12700">
            <a:solidFill>
              <a:srgbClr val="CBD6D3"/>
            </a:solidFill>
            <a:prstDash val="solid"/>
          </a:ln>
          <a:effectLst>
            <a:outerShdw sx="100000" sy="100000" kx="0" ky="0" algn="bl" rotWithShape="0" blurRad="101600" dist="25400" dir="8100000">
              <a:srgbClr val="000000">
                <a:alpha val="9000"/>
              </a:srgbClr>
            </a:outerShdw>
          </a:effectLst>
        </p:spPr>
      </p:sp>
      <p:sp>
        <p:nvSpPr>
          <p:cNvPr id="6" name="Shape 4"/>
          <p:cNvSpPr/>
          <p:nvPr/>
        </p:nvSpPr>
        <p:spPr>
          <a:xfrm>
            <a:off x="320040" y="1097280"/>
            <a:ext cx="2697480" cy="73152"/>
          </a:xfrm>
          <a:prstGeom prst="rect">
            <a:avLst/>
          </a:prstGeom>
          <a:solidFill>
            <a:srgbClr val="08737B"/>
          </a:solidFill>
          <a:ln w="12700">
            <a:solidFill>
              <a:srgbClr val="08737B"/>
            </a:solidFill>
            <a:prstDash val="solid"/>
          </a:ln>
        </p:spPr>
      </p:sp>
      <p:sp>
        <p:nvSpPr>
          <p:cNvPr id="7" name="Shape 5"/>
          <p:cNvSpPr/>
          <p:nvPr/>
        </p:nvSpPr>
        <p:spPr>
          <a:xfrm>
            <a:off x="1348740" y="1207008"/>
            <a:ext cx="640080" cy="640080"/>
          </a:xfrm>
          <a:prstGeom prst="ellipse">
            <a:avLst/>
          </a:prstGeom>
          <a:solidFill>
            <a:srgbClr val="08737B"/>
          </a:solidFill>
          <a:ln w="12700">
            <a:solidFill>
              <a:srgbClr val="08737B"/>
            </a:solidFill>
            <a:prstDash val="solid"/>
          </a:ln>
        </p:spPr>
      </p:sp>
      <p:sp>
        <p:nvSpPr>
          <p:cNvPr id="8" name="Text 6"/>
          <p:cNvSpPr/>
          <p:nvPr/>
        </p:nvSpPr>
        <p:spPr>
          <a:xfrm>
            <a:off x="1348740" y="1207008"/>
            <a:ext cx="640080" cy="640080"/>
          </a:xfrm>
          <a:prstGeom prst="rect">
            <a:avLst/>
          </a:prstGeom>
          <a:noFill/>
          <a:ln/>
        </p:spPr>
        <p:txBody>
          <a:bodyPr wrap="square" lIns="0" tIns="0" rIns="0" bIns="0" rtlCol="0" anchor="ctr"/>
          <a:lstStyle/>
          <a:p>
            <a:pPr algn="ctr" indent="0" marL="0">
              <a:buNone/>
            </a:pPr>
            <a:r>
              <a:rPr lang="en-US" sz="1500" b="1" dirty="0">
                <a:solidFill>
                  <a:srgbClr val="FFFFFF"/>
                </a:solidFill>
              </a:rPr>
              <a:t>P</a:t>
            </a:r>
            <a:endParaRPr lang="en-US" sz="1500" dirty="0"/>
          </a:p>
        </p:txBody>
      </p:sp>
      <p:sp>
        <p:nvSpPr>
          <p:cNvPr id="9" name="Text 7"/>
          <p:cNvSpPr/>
          <p:nvPr/>
        </p:nvSpPr>
        <p:spPr>
          <a:xfrm>
            <a:off x="411480" y="1920240"/>
            <a:ext cx="2514600" cy="384048"/>
          </a:xfrm>
          <a:prstGeom prst="rect">
            <a:avLst/>
          </a:prstGeom>
          <a:noFill/>
          <a:ln/>
        </p:spPr>
        <p:txBody>
          <a:bodyPr wrap="square" lIns="0" tIns="0" rIns="0" bIns="0" rtlCol="0" anchor="ctr"/>
          <a:lstStyle/>
          <a:p>
            <a:pPr algn="ctr" indent="0" marL="0">
              <a:buNone/>
            </a:pPr>
            <a:r>
              <a:rPr lang="en-US" sz="1350" b="1" dirty="0">
                <a:solidFill>
                  <a:srgbClr val="172525"/>
                </a:solidFill>
              </a:rPr>
              <a:t>Patient &amp; Family</a:t>
            </a:r>
            <a:endParaRPr lang="en-US" sz="1350" dirty="0"/>
          </a:p>
        </p:txBody>
      </p:sp>
      <p:sp>
        <p:nvSpPr>
          <p:cNvPr id="10" name="Text 8"/>
          <p:cNvSpPr/>
          <p:nvPr/>
        </p:nvSpPr>
        <p:spPr>
          <a:xfrm>
            <a:off x="411480" y="2331720"/>
            <a:ext cx="2514600" cy="274320"/>
          </a:xfrm>
          <a:prstGeom prst="rect">
            <a:avLst/>
          </a:prstGeom>
          <a:noFill/>
          <a:ln/>
        </p:spPr>
        <p:txBody>
          <a:bodyPr wrap="square" lIns="0" tIns="0" rIns="0" bIns="0" rtlCol="0" anchor="ctr"/>
          <a:lstStyle/>
          <a:p>
            <a:pPr algn="ctr" indent="0" marL="0">
              <a:buNone/>
            </a:pPr>
            <a:r>
              <a:rPr lang="en-US" sz="1100" i="1" dirty="0">
                <a:solidFill>
                  <a:srgbClr val="08737B"/>
                </a:solidFill>
              </a:rPr>
              <a:t>Recovery made simple.</a:t>
            </a:r>
            <a:endParaRPr lang="en-US" sz="1100" dirty="0"/>
          </a:p>
        </p:txBody>
      </p:sp>
      <p:sp>
        <p:nvSpPr>
          <p:cNvPr id="11" name="Shape 9"/>
          <p:cNvSpPr/>
          <p:nvPr/>
        </p:nvSpPr>
        <p:spPr>
          <a:xfrm>
            <a:off x="502920" y="2679192"/>
            <a:ext cx="2331720" cy="0"/>
          </a:xfrm>
          <a:prstGeom prst="line">
            <a:avLst/>
          </a:prstGeom>
          <a:noFill/>
          <a:ln w="6350">
            <a:solidFill>
              <a:srgbClr val="CBD6D3"/>
            </a:solidFill>
            <a:prstDash val="solid"/>
          </a:ln>
        </p:spPr>
      </p:sp>
      <p:sp>
        <p:nvSpPr>
          <p:cNvPr id="12" name="Text 10"/>
          <p:cNvSpPr/>
          <p:nvPr/>
        </p:nvSpPr>
        <p:spPr>
          <a:xfrm>
            <a:off x="411480" y="2761488"/>
            <a:ext cx="2514600" cy="2029968"/>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72525"/>
                </a:solidFill>
              </a:rPr>
              <a:t>Daily medication reminders via app, SMS, or voice call</a:t>
            </a:r>
            <a:endParaRPr lang="en-US" sz="950" dirty="0"/>
          </a:p>
          <a:p>
            <a:pPr marL="342900" indent="-342900">
              <a:spcAft>
                <a:spcPts val="400"/>
              </a:spcAft>
              <a:buSzPct val="100000"/>
              <a:buChar char="•"/>
            </a:pPr>
            <a:r>
              <a:rPr lang="en-US" sz="950" dirty="0">
                <a:solidFill>
                  <a:srgbClr val="172525"/>
                </a:solidFill>
              </a:rPr>
              <a:t>Plain-language explanation of every instruction</a:t>
            </a:r>
            <a:endParaRPr lang="en-US" sz="950" dirty="0"/>
          </a:p>
          <a:p>
            <a:pPr marL="342900" indent="-342900">
              <a:spcAft>
                <a:spcPts val="400"/>
              </a:spcAft>
              <a:buSzPct val="100000"/>
              <a:buChar char="•"/>
            </a:pPr>
            <a:r>
              <a:rPr lang="en-US" sz="950" dirty="0">
                <a:solidFill>
                  <a:srgbClr val="172525"/>
                </a:solidFill>
              </a:rPr>
              <a:t>Appointment reminders with one-tap confirmation</a:t>
            </a:r>
            <a:endParaRPr lang="en-US" sz="950" dirty="0"/>
          </a:p>
          <a:p>
            <a:pPr marL="342900" indent="-342900">
              <a:spcAft>
                <a:spcPts val="400"/>
              </a:spcAft>
              <a:buSzPct val="100000"/>
              <a:buChar char="•"/>
            </a:pPr>
            <a:r>
              <a:rPr lang="en-US" sz="950" dirty="0">
                <a:solidFill>
                  <a:srgbClr val="172525"/>
                </a:solidFill>
              </a:rPr>
              <a:t>Symptom check-in prompts at high-risk intervals</a:t>
            </a:r>
            <a:endParaRPr lang="en-US" sz="950" dirty="0"/>
          </a:p>
          <a:p>
            <a:pPr marL="342900" indent="-342900">
              <a:spcAft>
                <a:spcPts val="400"/>
              </a:spcAft>
              <a:buSzPct val="100000"/>
              <a:buChar char="•"/>
            </a:pPr>
            <a:r>
              <a:rPr lang="en-US" sz="950" dirty="0">
                <a:solidFill>
                  <a:srgbClr val="172525"/>
                </a:solidFill>
              </a:rPr>
              <a:t>Family proxy access — authorized read view of the plan</a:t>
            </a:r>
            <a:endParaRPr lang="en-US" sz="950" dirty="0"/>
          </a:p>
          <a:p>
            <a:pPr marL="342900" indent="-342900">
              <a:spcAft>
                <a:spcPts val="400"/>
              </a:spcAft>
              <a:buSzPct val="100000"/>
              <a:buChar char="•"/>
            </a:pPr>
            <a:r>
              <a:rPr lang="en-US" sz="950" dirty="0">
                <a:solidFill>
                  <a:srgbClr val="172525"/>
                </a:solidFill>
              </a:rPr>
              <a:t>Offline-capable: SMS requires no smartphone</a:t>
            </a:r>
            <a:endParaRPr lang="en-US" sz="950" dirty="0"/>
          </a:p>
        </p:txBody>
      </p:sp>
      <p:sp>
        <p:nvSpPr>
          <p:cNvPr id="13" name="Shape 11"/>
          <p:cNvSpPr/>
          <p:nvPr/>
        </p:nvSpPr>
        <p:spPr>
          <a:xfrm>
            <a:off x="3200400" y="1097280"/>
            <a:ext cx="2697480" cy="3822192"/>
          </a:xfrm>
          <a:prstGeom prst="rect">
            <a:avLst/>
          </a:prstGeom>
          <a:solidFill>
            <a:srgbClr val="FFFFFF"/>
          </a:solidFill>
          <a:ln w="12700">
            <a:solidFill>
              <a:srgbClr val="CBD6D3"/>
            </a:solidFill>
            <a:prstDash val="solid"/>
          </a:ln>
          <a:effectLst>
            <a:outerShdw sx="100000" sy="100000" kx="0" ky="0" algn="bl" rotWithShape="0" blurRad="101600" dist="25400" dir="8100000">
              <a:srgbClr val="000000">
                <a:alpha val="9000"/>
              </a:srgbClr>
            </a:outerShdw>
          </a:effectLst>
        </p:spPr>
      </p:sp>
      <p:sp>
        <p:nvSpPr>
          <p:cNvPr id="14" name="Shape 12"/>
          <p:cNvSpPr/>
          <p:nvPr/>
        </p:nvSpPr>
        <p:spPr>
          <a:xfrm>
            <a:off x="3200400" y="1097280"/>
            <a:ext cx="2697480" cy="73152"/>
          </a:xfrm>
          <a:prstGeom prst="rect">
            <a:avLst/>
          </a:prstGeom>
          <a:solidFill>
            <a:srgbClr val="C65323"/>
          </a:solidFill>
          <a:ln w="12700">
            <a:solidFill>
              <a:srgbClr val="C65323"/>
            </a:solidFill>
            <a:prstDash val="solid"/>
          </a:ln>
        </p:spPr>
      </p:sp>
      <p:sp>
        <p:nvSpPr>
          <p:cNvPr id="15" name="Shape 13"/>
          <p:cNvSpPr/>
          <p:nvPr/>
        </p:nvSpPr>
        <p:spPr>
          <a:xfrm>
            <a:off x="4229100" y="1207008"/>
            <a:ext cx="640080" cy="640080"/>
          </a:xfrm>
          <a:prstGeom prst="ellipse">
            <a:avLst/>
          </a:prstGeom>
          <a:solidFill>
            <a:srgbClr val="C65323"/>
          </a:solidFill>
          <a:ln w="12700">
            <a:solidFill>
              <a:srgbClr val="C65323"/>
            </a:solidFill>
            <a:prstDash val="solid"/>
          </a:ln>
        </p:spPr>
      </p:sp>
      <p:sp>
        <p:nvSpPr>
          <p:cNvPr id="16" name="Text 14"/>
          <p:cNvSpPr/>
          <p:nvPr/>
        </p:nvSpPr>
        <p:spPr>
          <a:xfrm>
            <a:off x="4229100" y="1207008"/>
            <a:ext cx="640080" cy="640080"/>
          </a:xfrm>
          <a:prstGeom prst="rect">
            <a:avLst/>
          </a:prstGeom>
          <a:noFill/>
          <a:ln/>
        </p:spPr>
        <p:txBody>
          <a:bodyPr wrap="square" lIns="0" tIns="0" rIns="0" bIns="0" rtlCol="0" anchor="ctr"/>
          <a:lstStyle/>
          <a:p>
            <a:pPr algn="ctr" indent="0" marL="0">
              <a:buNone/>
            </a:pPr>
            <a:r>
              <a:rPr lang="en-US" sz="1500" b="1" dirty="0">
                <a:solidFill>
                  <a:srgbClr val="FFFFFF"/>
                </a:solidFill>
              </a:rPr>
              <a:t>VC</a:t>
            </a:r>
            <a:endParaRPr lang="en-US" sz="1500" dirty="0"/>
          </a:p>
        </p:txBody>
      </p:sp>
      <p:sp>
        <p:nvSpPr>
          <p:cNvPr id="17" name="Text 15"/>
          <p:cNvSpPr/>
          <p:nvPr/>
        </p:nvSpPr>
        <p:spPr>
          <a:xfrm>
            <a:off x="3291840" y="1920240"/>
            <a:ext cx="2514600" cy="384048"/>
          </a:xfrm>
          <a:prstGeom prst="rect">
            <a:avLst/>
          </a:prstGeom>
          <a:noFill/>
          <a:ln/>
        </p:spPr>
        <p:txBody>
          <a:bodyPr wrap="square" lIns="0" tIns="0" rIns="0" bIns="0" rtlCol="0" anchor="ctr"/>
          <a:lstStyle/>
          <a:p>
            <a:pPr algn="ctr" indent="0" marL="0">
              <a:buNone/>
            </a:pPr>
            <a:r>
              <a:rPr lang="en-US" sz="1350" b="1" dirty="0">
                <a:solidFill>
                  <a:srgbClr val="172525"/>
                </a:solidFill>
              </a:rPr>
              <a:t>Verifying Clinician</a:t>
            </a:r>
            <a:endParaRPr lang="en-US" sz="1350" dirty="0"/>
          </a:p>
        </p:txBody>
      </p:sp>
      <p:sp>
        <p:nvSpPr>
          <p:cNvPr id="18" name="Text 16"/>
          <p:cNvSpPr/>
          <p:nvPr/>
        </p:nvSpPr>
        <p:spPr>
          <a:xfrm>
            <a:off x="3291840" y="2331720"/>
            <a:ext cx="2514600" cy="274320"/>
          </a:xfrm>
          <a:prstGeom prst="rect">
            <a:avLst/>
          </a:prstGeom>
          <a:noFill/>
          <a:ln/>
        </p:spPr>
        <p:txBody>
          <a:bodyPr wrap="square" lIns="0" tIns="0" rIns="0" bIns="0" rtlCol="0" anchor="ctr"/>
          <a:lstStyle/>
          <a:p>
            <a:pPr algn="ctr" indent="0" marL="0">
              <a:buNone/>
            </a:pPr>
            <a:r>
              <a:rPr lang="en-US" sz="1100" i="1" dirty="0">
                <a:solidFill>
                  <a:srgbClr val="C65323"/>
                </a:solidFill>
              </a:rPr>
              <a:t>AI drafts. You decide.</a:t>
            </a:r>
            <a:endParaRPr lang="en-US" sz="1100" dirty="0"/>
          </a:p>
        </p:txBody>
      </p:sp>
      <p:sp>
        <p:nvSpPr>
          <p:cNvPr id="19" name="Shape 17"/>
          <p:cNvSpPr/>
          <p:nvPr/>
        </p:nvSpPr>
        <p:spPr>
          <a:xfrm>
            <a:off x="3383280" y="2679192"/>
            <a:ext cx="2331720" cy="0"/>
          </a:xfrm>
          <a:prstGeom prst="line">
            <a:avLst/>
          </a:prstGeom>
          <a:noFill/>
          <a:ln w="6350">
            <a:solidFill>
              <a:srgbClr val="CBD6D3"/>
            </a:solidFill>
            <a:prstDash val="solid"/>
          </a:ln>
        </p:spPr>
      </p:sp>
      <p:sp>
        <p:nvSpPr>
          <p:cNvPr id="20" name="Text 18"/>
          <p:cNvSpPr/>
          <p:nvPr/>
        </p:nvSpPr>
        <p:spPr>
          <a:xfrm>
            <a:off x="3291840" y="2761488"/>
            <a:ext cx="2514600" cy="2029968"/>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72525"/>
                </a:solidFill>
              </a:rPr>
              <a:t>Review AI-extracted draft before any plan goes live</a:t>
            </a:r>
            <a:endParaRPr lang="en-US" sz="950" dirty="0"/>
          </a:p>
          <a:p>
            <a:pPr marL="342900" indent="-342900">
              <a:spcAft>
                <a:spcPts val="400"/>
              </a:spcAft>
              <a:buSzPct val="100000"/>
              <a:buChar char="•"/>
            </a:pPr>
            <a:r>
              <a:rPr lang="en-US" sz="950" dirty="0">
                <a:solidFill>
                  <a:srgbClr val="172525"/>
                </a:solidFill>
              </a:rPr>
              <a:t>Low-confidence extractions highlighted for review</a:t>
            </a:r>
            <a:endParaRPr lang="en-US" sz="950" dirty="0"/>
          </a:p>
          <a:p>
            <a:pPr marL="342900" indent="-342900">
              <a:spcAft>
                <a:spcPts val="400"/>
              </a:spcAft>
              <a:buSzPct val="100000"/>
              <a:buChar char="•"/>
            </a:pPr>
            <a:r>
              <a:rPr lang="en-US" sz="950" dirty="0">
                <a:solidFill>
                  <a:srgbClr val="172525"/>
                </a:solidFill>
              </a:rPr>
              <a:t>Every instruction links back to its source text</a:t>
            </a:r>
            <a:endParaRPr lang="en-US" sz="950" dirty="0"/>
          </a:p>
          <a:p>
            <a:pPr marL="342900" indent="-342900">
              <a:spcAft>
                <a:spcPts val="400"/>
              </a:spcAft>
              <a:buSzPct val="100000"/>
              <a:buChar char="•"/>
            </a:pPr>
            <a:r>
              <a:rPr lang="en-US" sz="950" dirty="0">
                <a:solidFill>
                  <a:srgbClr val="172525"/>
                </a:solidFill>
              </a:rPr>
              <a:t>Flag medication conflicts for pharmacist review</a:t>
            </a:r>
            <a:endParaRPr lang="en-US" sz="950" dirty="0"/>
          </a:p>
          <a:p>
            <a:pPr marL="342900" indent="-342900">
              <a:spcAft>
                <a:spcPts val="400"/>
              </a:spcAft>
              <a:buSzPct val="100000"/>
              <a:buChar char="•"/>
            </a:pPr>
            <a:r>
              <a:rPr lang="en-US" sz="950" dirty="0">
                <a:solidFill>
                  <a:srgbClr val="172525"/>
                </a:solidFill>
              </a:rPr>
              <a:t>Approve, edit, or reject any individual instruction</a:t>
            </a:r>
            <a:endParaRPr lang="en-US" sz="950" dirty="0"/>
          </a:p>
          <a:p>
            <a:pPr marL="342900" indent="-342900">
              <a:spcAft>
                <a:spcPts val="400"/>
              </a:spcAft>
              <a:buSzPct val="100000"/>
              <a:buChar char="•"/>
            </a:pPr>
            <a:r>
              <a:rPr lang="en-US" sz="950" dirty="0">
                <a:solidFill>
                  <a:srgbClr val="172525"/>
                </a:solidFill>
              </a:rPr>
              <a:t>E-signature creates a complete HIPAA audit trail</a:t>
            </a:r>
            <a:endParaRPr lang="en-US" sz="950" dirty="0"/>
          </a:p>
        </p:txBody>
      </p:sp>
      <p:sp>
        <p:nvSpPr>
          <p:cNvPr id="21" name="Shape 19"/>
          <p:cNvSpPr/>
          <p:nvPr/>
        </p:nvSpPr>
        <p:spPr>
          <a:xfrm>
            <a:off x="6080760" y="1097280"/>
            <a:ext cx="2697480" cy="3822192"/>
          </a:xfrm>
          <a:prstGeom prst="rect">
            <a:avLst/>
          </a:prstGeom>
          <a:solidFill>
            <a:srgbClr val="FFFFFF"/>
          </a:solidFill>
          <a:ln w="12700">
            <a:solidFill>
              <a:srgbClr val="CBD6D3"/>
            </a:solidFill>
            <a:prstDash val="solid"/>
          </a:ln>
          <a:effectLst>
            <a:outerShdw sx="100000" sy="100000" kx="0" ky="0" algn="bl" rotWithShape="0" blurRad="101600" dist="25400" dir="8100000">
              <a:srgbClr val="000000">
                <a:alpha val="9000"/>
              </a:srgbClr>
            </a:outerShdw>
          </a:effectLst>
        </p:spPr>
      </p:sp>
      <p:sp>
        <p:nvSpPr>
          <p:cNvPr id="22" name="Shape 20"/>
          <p:cNvSpPr/>
          <p:nvPr/>
        </p:nvSpPr>
        <p:spPr>
          <a:xfrm>
            <a:off x="6080760" y="1097280"/>
            <a:ext cx="2697480" cy="73152"/>
          </a:xfrm>
          <a:prstGeom prst="rect">
            <a:avLst/>
          </a:prstGeom>
          <a:solidFill>
            <a:srgbClr val="24734F"/>
          </a:solidFill>
          <a:ln w="12700">
            <a:solidFill>
              <a:srgbClr val="24734F"/>
            </a:solidFill>
            <a:prstDash val="solid"/>
          </a:ln>
        </p:spPr>
      </p:sp>
      <p:sp>
        <p:nvSpPr>
          <p:cNvPr id="23" name="Shape 21"/>
          <p:cNvSpPr/>
          <p:nvPr/>
        </p:nvSpPr>
        <p:spPr>
          <a:xfrm>
            <a:off x="7109460" y="1207008"/>
            <a:ext cx="640080" cy="640080"/>
          </a:xfrm>
          <a:prstGeom prst="ellipse">
            <a:avLst/>
          </a:prstGeom>
          <a:solidFill>
            <a:srgbClr val="24734F"/>
          </a:solidFill>
          <a:ln w="12700">
            <a:solidFill>
              <a:srgbClr val="24734F"/>
            </a:solidFill>
            <a:prstDash val="solid"/>
          </a:ln>
        </p:spPr>
      </p:sp>
      <p:sp>
        <p:nvSpPr>
          <p:cNvPr id="24" name="Text 22"/>
          <p:cNvSpPr/>
          <p:nvPr/>
        </p:nvSpPr>
        <p:spPr>
          <a:xfrm>
            <a:off x="7109460" y="1207008"/>
            <a:ext cx="640080" cy="640080"/>
          </a:xfrm>
          <a:prstGeom prst="rect">
            <a:avLst/>
          </a:prstGeom>
          <a:noFill/>
          <a:ln/>
        </p:spPr>
        <p:txBody>
          <a:bodyPr wrap="square" lIns="0" tIns="0" rIns="0" bIns="0" rtlCol="0" anchor="ctr"/>
          <a:lstStyle/>
          <a:p>
            <a:pPr algn="ctr" indent="0" marL="0">
              <a:buNone/>
            </a:pPr>
            <a:r>
              <a:rPr lang="en-US" sz="1500" b="1" dirty="0">
                <a:solidFill>
                  <a:srgbClr val="FFFFFF"/>
                </a:solidFill>
              </a:rPr>
              <a:t>CC</a:t>
            </a:r>
            <a:endParaRPr lang="en-US" sz="1500" dirty="0"/>
          </a:p>
        </p:txBody>
      </p:sp>
      <p:sp>
        <p:nvSpPr>
          <p:cNvPr id="25" name="Text 23"/>
          <p:cNvSpPr/>
          <p:nvPr/>
        </p:nvSpPr>
        <p:spPr>
          <a:xfrm>
            <a:off x="6172200" y="1920240"/>
            <a:ext cx="2514600" cy="384048"/>
          </a:xfrm>
          <a:prstGeom prst="rect">
            <a:avLst/>
          </a:prstGeom>
          <a:noFill/>
          <a:ln/>
        </p:spPr>
        <p:txBody>
          <a:bodyPr wrap="square" lIns="0" tIns="0" rIns="0" bIns="0" rtlCol="0" anchor="ctr"/>
          <a:lstStyle/>
          <a:p>
            <a:pPr algn="ctr" indent="0" marL="0">
              <a:buNone/>
            </a:pPr>
            <a:r>
              <a:rPr lang="en-US" sz="1350" b="1" dirty="0">
                <a:solidFill>
                  <a:srgbClr val="172525"/>
                </a:solidFill>
              </a:rPr>
              <a:t>Care Coordinator</a:t>
            </a:r>
            <a:endParaRPr lang="en-US" sz="1350" dirty="0"/>
          </a:p>
        </p:txBody>
      </p:sp>
      <p:sp>
        <p:nvSpPr>
          <p:cNvPr id="26" name="Text 24"/>
          <p:cNvSpPr/>
          <p:nvPr/>
        </p:nvSpPr>
        <p:spPr>
          <a:xfrm>
            <a:off x="6172200" y="2331720"/>
            <a:ext cx="2514600" cy="274320"/>
          </a:xfrm>
          <a:prstGeom prst="rect">
            <a:avLst/>
          </a:prstGeom>
          <a:noFill/>
          <a:ln/>
        </p:spPr>
        <p:txBody>
          <a:bodyPr wrap="square" lIns="0" tIns="0" rIns="0" bIns="0" rtlCol="0" anchor="ctr"/>
          <a:lstStyle/>
          <a:p>
            <a:pPr algn="ctr" indent="0" marL="0">
              <a:buNone/>
            </a:pPr>
            <a:r>
              <a:rPr lang="en-US" sz="1100" i="1" dirty="0">
                <a:solidFill>
                  <a:srgbClr val="24734F"/>
                </a:solidFill>
              </a:rPr>
              <a:t>Visibility across every patient.</a:t>
            </a:r>
            <a:endParaRPr lang="en-US" sz="1100" dirty="0"/>
          </a:p>
        </p:txBody>
      </p:sp>
      <p:sp>
        <p:nvSpPr>
          <p:cNvPr id="27" name="Shape 25"/>
          <p:cNvSpPr/>
          <p:nvPr/>
        </p:nvSpPr>
        <p:spPr>
          <a:xfrm>
            <a:off x="6263640" y="2679192"/>
            <a:ext cx="2331720" cy="0"/>
          </a:xfrm>
          <a:prstGeom prst="line">
            <a:avLst/>
          </a:prstGeom>
          <a:noFill/>
          <a:ln w="6350">
            <a:solidFill>
              <a:srgbClr val="CBD6D3"/>
            </a:solidFill>
            <a:prstDash val="solid"/>
          </a:ln>
        </p:spPr>
      </p:sp>
      <p:sp>
        <p:nvSpPr>
          <p:cNvPr id="28" name="Text 26"/>
          <p:cNvSpPr/>
          <p:nvPr/>
        </p:nvSpPr>
        <p:spPr>
          <a:xfrm>
            <a:off x="6172200" y="2761488"/>
            <a:ext cx="2514600" cy="2029968"/>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72525"/>
                </a:solidFill>
              </a:rPr>
              <a:t>Dashboard: all active 30-day transition patients</a:t>
            </a:r>
            <a:endParaRPr lang="en-US" sz="950" dirty="0"/>
          </a:p>
          <a:p>
            <a:pPr marL="342900" indent="-342900">
              <a:spcAft>
                <a:spcPts val="400"/>
              </a:spcAft>
              <a:buSzPct val="100000"/>
              <a:buChar char="•"/>
            </a:pPr>
            <a:r>
              <a:rPr lang="en-US" sz="950" dirty="0">
                <a:solidFill>
                  <a:srgbClr val="172525"/>
                </a:solidFill>
              </a:rPr>
              <a:t>Missed medications, appointments and tasks at a glance</a:t>
            </a:r>
            <a:endParaRPr lang="en-US" sz="950" dirty="0"/>
          </a:p>
          <a:p>
            <a:pPr marL="342900" indent="-342900">
              <a:spcAft>
                <a:spcPts val="400"/>
              </a:spcAft>
              <a:buSzPct val="100000"/>
              <a:buChar char="•"/>
            </a:pPr>
            <a:r>
              <a:rPr lang="en-US" sz="950" dirty="0">
                <a:solidFill>
                  <a:srgbClr val="172525"/>
                </a:solidFill>
              </a:rPr>
              <a:t>Escalation history and outcome tracking per patient</a:t>
            </a:r>
            <a:endParaRPr lang="en-US" sz="950" dirty="0"/>
          </a:p>
          <a:p>
            <a:pPr marL="342900" indent="-342900">
              <a:spcAft>
                <a:spcPts val="400"/>
              </a:spcAft>
              <a:buSzPct val="100000"/>
              <a:buChar char="•"/>
            </a:pPr>
            <a:r>
              <a:rPr lang="en-US" sz="950" dirty="0">
                <a:solidFill>
                  <a:srgbClr val="172525"/>
                </a:solidFill>
              </a:rPr>
              <a:t>Failed contact attempt log with retry scheduling</a:t>
            </a:r>
            <a:endParaRPr lang="en-US" sz="950" dirty="0"/>
          </a:p>
          <a:p>
            <a:pPr marL="342900" indent="-342900">
              <a:spcAft>
                <a:spcPts val="400"/>
              </a:spcAft>
              <a:buSzPct val="100000"/>
              <a:buChar char="•"/>
            </a:pPr>
            <a:r>
              <a:rPr lang="en-US" sz="950" dirty="0">
                <a:solidFill>
                  <a:srgbClr val="172525"/>
                </a:solidFill>
              </a:rPr>
              <a:t>Direct link to the assigned in-home caregiver</a:t>
            </a:r>
            <a:endParaRPr lang="en-US" sz="950" dirty="0"/>
          </a:p>
          <a:p>
            <a:pPr marL="342900" indent="-342900">
              <a:spcAft>
                <a:spcPts val="400"/>
              </a:spcAft>
              <a:buSzPct val="100000"/>
              <a:buChar char="•"/>
            </a:pPr>
            <a:r>
              <a:rPr lang="en-US" sz="950" dirty="0">
                <a:solidFill>
                  <a:srgbClr val="172525"/>
                </a:solidFill>
              </a:rPr>
              <a:t>Medication discrepancy and warning symptom alerts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7F6"/>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73F43"/>
          </a:solidFill>
          <a:ln w="12700">
            <a:solidFill>
              <a:srgbClr val="073F43"/>
            </a:solidFill>
            <a:prstDash val="solid"/>
          </a:ln>
        </p:spPr>
      </p:sp>
      <p:sp>
        <p:nvSpPr>
          <p:cNvPr id="3" name="Text 1"/>
          <p:cNvSpPr/>
          <p:nvPr/>
        </p:nvSpPr>
        <p:spPr>
          <a:xfrm>
            <a:off x="457200" y="54864"/>
            <a:ext cx="8229600" cy="274320"/>
          </a:xfrm>
          <a:prstGeom prst="rect">
            <a:avLst/>
          </a:prstGeom>
          <a:noFill/>
          <a:ln/>
        </p:spPr>
        <p:txBody>
          <a:bodyPr wrap="square" lIns="0" tIns="0" rIns="0" bIns="0" rtlCol="0" anchor="ctr"/>
          <a:lstStyle/>
          <a:p>
            <a:pPr indent="0" marL="0">
              <a:buNone/>
            </a:pPr>
            <a:r>
              <a:rPr lang="en-US" sz="900" b="1" spc="400" kern="0" dirty="0">
                <a:solidFill>
                  <a:srgbClr val="D9EFF0"/>
                </a:solidFill>
              </a:rPr>
              <a:t>THE SOLUTION</a:t>
            </a:r>
            <a:endParaRPr lang="en-US" sz="900" dirty="0"/>
          </a:p>
        </p:txBody>
      </p:sp>
      <p:sp>
        <p:nvSpPr>
          <p:cNvPr id="4" name="Text 2"/>
          <p:cNvSpPr/>
          <p:nvPr/>
        </p:nvSpPr>
        <p:spPr>
          <a:xfrm>
            <a:off x="457200" y="384048"/>
            <a:ext cx="8229600" cy="521208"/>
          </a:xfrm>
          <a:prstGeom prst="rect">
            <a:avLst/>
          </a:prstGeom>
          <a:noFill/>
          <a:ln/>
        </p:spPr>
        <p:txBody>
          <a:bodyPr wrap="square" lIns="0" tIns="0" rIns="0" bIns="0" rtlCol="0" anchor="ctr"/>
          <a:lstStyle/>
          <a:p>
            <a:pPr indent="0" marL="0">
              <a:buNone/>
            </a:pPr>
            <a:r>
              <a:rPr lang="en-US" sz="1700" b="1" dirty="0">
                <a:solidFill>
                  <a:srgbClr val="FFFFFF"/>
                </a:solidFill>
              </a:rPr>
              <a:t>A clinically verified recovery workflow — broader than a medication reminder app.</a:t>
            </a:r>
            <a:endParaRPr lang="en-US" sz="1700" dirty="0"/>
          </a:p>
        </p:txBody>
      </p:sp>
      <p:sp>
        <p:nvSpPr>
          <p:cNvPr id="5" name="Shape 3"/>
          <p:cNvSpPr/>
          <p:nvPr/>
        </p:nvSpPr>
        <p:spPr>
          <a:xfrm>
            <a:off x="274320" y="1115568"/>
            <a:ext cx="804672" cy="795528"/>
          </a:xfrm>
          <a:prstGeom prst="rect">
            <a:avLst/>
          </a:prstGeom>
          <a:solidFill>
            <a:srgbClr val="08737B"/>
          </a:solidFill>
          <a:ln w="12700">
            <a:solidFill>
              <a:srgbClr val="08737B"/>
            </a:solidFill>
            <a:prstDash val="solid"/>
          </a:ln>
        </p:spPr>
      </p:sp>
      <p:sp>
        <p:nvSpPr>
          <p:cNvPr id="6" name="Text 4"/>
          <p:cNvSpPr/>
          <p:nvPr/>
        </p:nvSpPr>
        <p:spPr>
          <a:xfrm>
            <a:off x="274320" y="1143000"/>
            <a:ext cx="804672" cy="347472"/>
          </a:xfrm>
          <a:prstGeom prst="rect">
            <a:avLst/>
          </a:prstGeom>
          <a:noFill/>
          <a:ln/>
        </p:spPr>
        <p:txBody>
          <a:bodyPr wrap="square" lIns="0" tIns="0" rIns="0" bIns="0" rtlCol="0" anchor="ctr"/>
          <a:lstStyle/>
          <a:p>
            <a:pPr algn="ctr" indent="0" marL="0">
              <a:buNone/>
            </a:pPr>
            <a:r>
              <a:rPr lang="en-US" sz="1050" b="1" dirty="0">
                <a:solidFill>
                  <a:srgbClr val="FFFFFF"/>
                </a:solidFill>
              </a:rPr>
              <a:t>01</a:t>
            </a:r>
            <a:endParaRPr lang="en-US" sz="1050" dirty="0"/>
          </a:p>
        </p:txBody>
      </p:sp>
      <p:sp>
        <p:nvSpPr>
          <p:cNvPr id="7" name="Text 5"/>
          <p:cNvSpPr/>
          <p:nvPr/>
        </p:nvSpPr>
        <p:spPr>
          <a:xfrm>
            <a:off x="274320" y="1517904"/>
            <a:ext cx="804672" cy="365760"/>
          </a:xfrm>
          <a:prstGeom prst="rect">
            <a:avLst/>
          </a:prstGeom>
          <a:noFill/>
          <a:ln/>
        </p:spPr>
        <p:txBody>
          <a:bodyPr wrap="square" lIns="0" tIns="0" rIns="0" bIns="0" rtlCol="0" anchor="ctr"/>
          <a:lstStyle/>
          <a:p>
            <a:pPr algn="ctr" indent="0" marL="0">
              <a:buNone/>
            </a:pPr>
            <a:r>
              <a:rPr lang="en-US" sz="1000" b="1" dirty="0">
                <a:solidFill>
                  <a:srgbClr val="FFFFFF"/>
                </a:solidFill>
              </a:rPr>
              <a:t>Understand</a:t>
            </a:r>
            <a:endParaRPr lang="en-US" sz="1000" dirty="0"/>
          </a:p>
        </p:txBody>
      </p:sp>
      <p:sp>
        <p:nvSpPr>
          <p:cNvPr id="8" name="Shape 6"/>
          <p:cNvSpPr/>
          <p:nvPr/>
        </p:nvSpPr>
        <p:spPr>
          <a:xfrm>
            <a:off x="1115568" y="1115568"/>
            <a:ext cx="3657600" cy="795528"/>
          </a:xfrm>
          <a:prstGeom prst="rect">
            <a:avLst/>
          </a:prstGeom>
          <a:solidFill>
            <a:srgbClr val="FFFFFF"/>
          </a:solidFill>
          <a:ln w="12700">
            <a:solidFill>
              <a:srgbClr val="CBD6D3"/>
            </a:solidFill>
            <a:prstDash val="solid"/>
          </a:ln>
        </p:spPr>
      </p:sp>
      <p:sp>
        <p:nvSpPr>
          <p:cNvPr id="9" name="Text 7"/>
          <p:cNvSpPr/>
          <p:nvPr/>
        </p:nvSpPr>
        <p:spPr>
          <a:xfrm>
            <a:off x="1188720" y="1161288"/>
            <a:ext cx="3529584" cy="704088"/>
          </a:xfrm>
          <a:prstGeom prst="rect">
            <a:avLst/>
          </a:prstGeom>
          <a:noFill/>
          <a:ln/>
        </p:spPr>
        <p:txBody>
          <a:bodyPr wrap="square" lIns="0" tIns="0" rIns="0" bIns="0" rtlCol="0" anchor="t"/>
          <a:lstStyle/>
          <a:p>
            <a:pPr indent="0" marL="0">
              <a:buNone/>
            </a:pPr>
            <a:r>
              <a:rPr lang="en-US" sz="950" dirty="0">
                <a:solidFill>
                  <a:srgbClr val="172525"/>
                </a:solidFill>
              </a:rPr>
              <a:t>Upload PDF or photo of discharge notes</a:t>
            </a:r>
            <a:endParaRPr lang="en-US" sz="950" dirty="0"/>
          </a:p>
          <a:p>
            <a:pPr indent="0" marL="0">
              <a:buNone/>
            </a:pPr>
            <a:r>
              <a:rPr lang="en-US" sz="950" dirty="0">
                <a:solidFill>
                  <a:srgbClr val="172525"/>
                </a:solidFill>
              </a:rPr>
              <a:t>FHIR hospital import (Phase 2)</a:t>
            </a:r>
            <a:endParaRPr lang="en-US" sz="950" dirty="0"/>
          </a:p>
          <a:p>
            <a:pPr indent="0" marL="0">
              <a:buNone/>
            </a:pPr>
            <a:r>
              <a:rPr lang="en-US" sz="950" dirty="0">
                <a:solidFill>
                  <a:srgbClr val="172525"/>
                </a:solidFill>
              </a:rPr>
              <a:t>AI extracts: meds, dosages, timing, appointments</a:t>
            </a:r>
            <a:endParaRPr lang="en-US" sz="950" dirty="0"/>
          </a:p>
          <a:p>
            <a:pPr indent="0" marL="0">
              <a:buNone/>
            </a:pPr>
            <a:r>
              <a:rPr lang="en-US" sz="950" dirty="0">
                <a:solidFill>
                  <a:srgbClr val="172525"/>
                </a:solidFill>
              </a:rPr>
              <a:t>Diet, activity, wound care, warning signs</a:t>
            </a:r>
            <a:endParaRPr lang="en-US" sz="950" dirty="0"/>
          </a:p>
        </p:txBody>
      </p:sp>
      <p:sp>
        <p:nvSpPr>
          <p:cNvPr id="10" name="Shape 8"/>
          <p:cNvSpPr/>
          <p:nvPr/>
        </p:nvSpPr>
        <p:spPr>
          <a:xfrm>
            <a:off x="4818888" y="1115568"/>
            <a:ext cx="4050792" cy="795528"/>
          </a:xfrm>
          <a:prstGeom prst="rect">
            <a:avLst/>
          </a:prstGeom>
          <a:solidFill>
            <a:srgbClr val="D9EFF0"/>
          </a:solidFill>
          <a:ln w="12700">
            <a:solidFill>
              <a:srgbClr val="CBD6D3"/>
            </a:solidFill>
            <a:prstDash val="solid"/>
          </a:ln>
        </p:spPr>
      </p:sp>
      <p:sp>
        <p:nvSpPr>
          <p:cNvPr id="11" name="Text 9"/>
          <p:cNvSpPr/>
          <p:nvPr/>
        </p:nvSpPr>
        <p:spPr>
          <a:xfrm>
            <a:off x="4901184" y="1161288"/>
            <a:ext cx="3904488" cy="704088"/>
          </a:xfrm>
          <a:prstGeom prst="rect">
            <a:avLst/>
          </a:prstGeom>
          <a:noFill/>
          <a:ln/>
        </p:spPr>
        <p:txBody>
          <a:bodyPr wrap="square" lIns="0" tIns="0" rIns="0" bIns="0" rtlCol="0" anchor="t"/>
          <a:lstStyle/>
          <a:p>
            <a:pPr indent="0" marL="0">
              <a:buNone/>
            </a:pPr>
            <a:r>
              <a:rPr lang="en-US" sz="950" dirty="0">
                <a:solidFill>
                  <a:srgbClr val="172525"/>
                </a:solidFill>
              </a:rPr>
              <a:t>Source text preserved for every extracted item</a:t>
            </a:r>
            <a:endParaRPr lang="en-US" sz="950" dirty="0"/>
          </a:p>
          <a:p>
            <a:pPr indent="0" marL="0">
              <a:buNone/>
            </a:pPr>
            <a:r>
              <a:rPr lang="en-US" sz="950" dirty="0">
                <a:solidFill>
                  <a:srgbClr val="172525"/>
                </a:solidFill>
              </a:rPr>
              <a:t>Low-confidence extractions flagged for review</a:t>
            </a:r>
            <a:endParaRPr lang="en-US" sz="950" dirty="0"/>
          </a:p>
          <a:p>
            <a:pPr indent="0" marL="0">
              <a:buNone/>
            </a:pPr>
            <a:r>
              <a:rPr lang="en-US" sz="950" dirty="0">
                <a:solidFill>
                  <a:srgbClr val="172525"/>
                </a:solidFill>
              </a:rPr>
              <a:t>SMS and voice delivery — no smartphone needed</a:t>
            </a:r>
            <a:endParaRPr lang="en-US" sz="950" dirty="0"/>
          </a:p>
          <a:p>
            <a:pPr indent="0" marL="0">
              <a:buNone/>
            </a:pPr>
            <a:r>
              <a:rPr lang="en-US" sz="950" dirty="0">
                <a:solidFill>
                  <a:srgbClr val="172525"/>
                </a:solidFill>
              </a:rPr>
              <a:t>Multilingual: plain-language output in any language</a:t>
            </a:r>
            <a:endParaRPr lang="en-US" sz="950" dirty="0"/>
          </a:p>
        </p:txBody>
      </p:sp>
      <p:sp>
        <p:nvSpPr>
          <p:cNvPr id="12" name="Shape 10"/>
          <p:cNvSpPr/>
          <p:nvPr/>
        </p:nvSpPr>
        <p:spPr>
          <a:xfrm>
            <a:off x="274320" y="2039112"/>
            <a:ext cx="804672" cy="795528"/>
          </a:xfrm>
          <a:prstGeom prst="rect">
            <a:avLst/>
          </a:prstGeom>
          <a:solidFill>
            <a:srgbClr val="C65323"/>
          </a:solidFill>
          <a:ln w="12700">
            <a:solidFill>
              <a:srgbClr val="C65323"/>
            </a:solidFill>
            <a:prstDash val="solid"/>
          </a:ln>
        </p:spPr>
      </p:sp>
      <p:sp>
        <p:nvSpPr>
          <p:cNvPr id="13" name="Text 11"/>
          <p:cNvSpPr/>
          <p:nvPr/>
        </p:nvSpPr>
        <p:spPr>
          <a:xfrm>
            <a:off x="274320" y="2066544"/>
            <a:ext cx="804672" cy="347472"/>
          </a:xfrm>
          <a:prstGeom prst="rect">
            <a:avLst/>
          </a:prstGeom>
          <a:noFill/>
          <a:ln/>
        </p:spPr>
        <p:txBody>
          <a:bodyPr wrap="square" lIns="0" tIns="0" rIns="0" bIns="0" rtlCol="0" anchor="ctr"/>
          <a:lstStyle/>
          <a:p>
            <a:pPr algn="ctr" indent="0" marL="0">
              <a:buNone/>
            </a:pPr>
            <a:r>
              <a:rPr lang="en-US" sz="1050" b="1" dirty="0">
                <a:solidFill>
                  <a:srgbClr val="FFFFFF"/>
                </a:solidFill>
              </a:rPr>
              <a:t>02</a:t>
            </a:r>
            <a:endParaRPr lang="en-US" sz="1050" dirty="0"/>
          </a:p>
        </p:txBody>
      </p:sp>
      <p:sp>
        <p:nvSpPr>
          <p:cNvPr id="14" name="Text 12"/>
          <p:cNvSpPr/>
          <p:nvPr/>
        </p:nvSpPr>
        <p:spPr>
          <a:xfrm>
            <a:off x="274320" y="2441448"/>
            <a:ext cx="804672" cy="365760"/>
          </a:xfrm>
          <a:prstGeom prst="rect">
            <a:avLst/>
          </a:prstGeom>
          <a:noFill/>
          <a:ln/>
        </p:spPr>
        <p:txBody>
          <a:bodyPr wrap="square" lIns="0" tIns="0" rIns="0" bIns="0" rtlCol="0" anchor="ctr"/>
          <a:lstStyle/>
          <a:p>
            <a:pPr algn="ctr" indent="0" marL="0">
              <a:buNone/>
            </a:pPr>
            <a:r>
              <a:rPr lang="en-US" sz="1000" b="1" dirty="0">
                <a:solidFill>
                  <a:srgbClr val="FFFFFF"/>
                </a:solidFill>
              </a:rPr>
              <a:t>Verify</a:t>
            </a:r>
            <a:endParaRPr lang="en-US" sz="1000" dirty="0"/>
          </a:p>
        </p:txBody>
      </p:sp>
      <p:sp>
        <p:nvSpPr>
          <p:cNvPr id="15" name="Shape 13"/>
          <p:cNvSpPr/>
          <p:nvPr/>
        </p:nvSpPr>
        <p:spPr>
          <a:xfrm>
            <a:off x="1115568" y="2039112"/>
            <a:ext cx="3657600" cy="795528"/>
          </a:xfrm>
          <a:prstGeom prst="rect">
            <a:avLst/>
          </a:prstGeom>
          <a:solidFill>
            <a:srgbClr val="FFFFFF"/>
          </a:solidFill>
          <a:ln w="12700">
            <a:solidFill>
              <a:srgbClr val="CBD6D3"/>
            </a:solidFill>
            <a:prstDash val="solid"/>
          </a:ln>
        </p:spPr>
      </p:sp>
      <p:sp>
        <p:nvSpPr>
          <p:cNvPr id="16" name="Text 14"/>
          <p:cNvSpPr/>
          <p:nvPr/>
        </p:nvSpPr>
        <p:spPr>
          <a:xfrm>
            <a:off x="1188720" y="2084832"/>
            <a:ext cx="3529584" cy="704088"/>
          </a:xfrm>
          <a:prstGeom prst="rect">
            <a:avLst/>
          </a:prstGeom>
          <a:noFill/>
          <a:ln/>
        </p:spPr>
        <p:txBody>
          <a:bodyPr wrap="square" lIns="0" tIns="0" rIns="0" bIns="0" rtlCol="0" anchor="t"/>
          <a:lstStyle/>
          <a:p>
            <a:pPr indent="0" marL="0">
              <a:buNone/>
            </a:pPr>
            <a:r>
              <a:rPr lang="en-US" sz="950" dirty="0">
                <a:solidFill>
                  <a:srgbClr val="172525"/>
                </a:solidFill>
              </a:rPr>
              <a:t>Clinician receives AI draft plan for review</a:t>
            </a:r>
            <a:endParaRPr lang="en-US" sz="950" dirty="0"/>
          </a:p>
          <a:p>
            <a:pPr indent="0" marL="0">
              <a:buNone/>
            </a:pPr>
            <a:r>
              <a:rPr lang="en-US" sz="950" dirty="0">
                <a:solidFill>
                  <a:srgbClr val="172525"/>
                </a:solidFill>
              </a:rPr>
              <a:t>Conflicts and dosage discrepancies highlighted</a:t>
            </a:r>
            <a:endParaRPr lang="en-US" sz="950" dirty="0"/>
          </a:p>
          <a:p>
            <a:pPr indent="0" marL="0">
              <a:buNone/>
            </a:pPr>
            <a:r>
              <a:rPr lang="en-US" sz="950" dirty="0">
                <a:solidFill>
                  <a:srgbClr val="172525"/>
                </a:solidFill>
              </a:rPr>
              <a:t>Medication reconciliation with existing home meds</a:t>
            </a:r>
            <a:endParaRPr lang="en-US" sz="950" dirty="0"/>
          </a:p>
          <a:p>
            <a:pPr indent="0" marL="0">
              <a:buNone/>
            </a:pPr>
            <a:r>
              <a:rPr lang="en-US" sz="950" dirty="0">
                <a:solidFill>
                  <a:srgbClr val="172525"/>
                </a:solidFill>
              </a:rPr>
              <a:t>Pharmacist escalation loop for complex polypharmacy</a:t>
            </a:r>
            <a:endParaRPr lang="en-US" sz="950" dirty="0"/>
          </a:p>
        </p:txBody>
      </p:sp>
      <p:sp>
        <p:nvSpPr>
          <p:cNvPr id="17" name="Shape 15"/>
          <p:cNvSpPr/>
          <p:nvPr/>
        </p:nvSpPr>
        <p:spPr>
          <a:xfrm>
            <a:off x="4818888" y="2039112"/>
            <a:ext cx="4050792" cy="795528"/>
          </a:xfrm>
          <a:prstGeom prst="rect">
            <a:avLst/>
          </a:prstGeom>
          <a:solidFill>
            <a:srgbClr val="FFF0E8"/>
          </a:solidFill>
          <a:ln w="12700">
            <a:solidFill>
              <a:srgbClr val="CBD6D3"/>
            </a:solidFill>
            <a:prstDash val="solid"/>
          </a:ln>
        </p:spPr>
      </p:sp>
      <p:sp>
        <p:nvSpPr>
          <p:cNvPr id="18" name="Text 16"/>
          <p:cNvSpPr/>
          <p:nvPr/>
        </p:nvSpPr>
        <p:spPr>
          <a:xfrm>
            <a:off x="4901184" y="2084832"/>
            <a:ext cx="3904488" cy="704088"/>
          </a:xfrm>
          <a:prstGeom prst="rect">
            <a:avLst/>
          </a:prstGeom>
          <a:noFill/>
          <a:ln/>
        </p:spPr>
        <p:txBody>
          <a:bodyPr wrap="square" lIns="0" tIns="0" rIns="0" bIns="0" rtlCol="0" anchor="t"/>
          <a:lstStyle/>
          <a:p>
            <a:pPr indent="0" marL="0">
              <a:buNone/>
            </a:pPr>
            <a:r>
              <a:rPr lang="en-US" sz="950" dirty="0">
                <a:solidFill>
                  <a:srgbClr val="172525"/>
                </a:solidFill>
              </a:rPr>
              <a:t>Every item linked to its source document text</a:t>
            </a:r>
            <a:endParaRPr lang="en-US" sz="950" dirty="0"/>
          </a:p>
          <a:p>
            <a:pPr indent="0" marL="0">
              <a:buNone/>
            </a:pPr>
            <a:r>
              <a:rPr lang="en-US" sz="950" dirty="0">
                <a:solidFill>
                  <a:srgbClr val="172525"/>
                </a:solidFill>
              </a:rPr>
              <a:t>E-signature activates the plan</a:t>
            </a:r>
            <a:endParaRPr lang="en-US" sz="950" dirty="0"/>
          </a:p>
          <a:p>
            <a:pPr indent="0" marL="0">
              <a:buNone/>
            </a:pPr>
            <a:r>
              <a:rPr lang="en-US" sz="950" dirty="0">
                <a:solidFill>
                  <a:srgbClr val="172525"/>
                </a:solidFill>
              </a:rPr>
              <a:t>No reminder goes live without clinical approval</a:t>
            </a:r>
            <a:endParaRPr lang="en-US" sz="950" dirty="0"/>
          </a:p>
          <a:p>
            <a:pPr indent="0" marL="0">
              <a:buNone/>
            </a:pPr>
            <a:r>
              <a:rPr lang="en-US" sz="950" dirty="0">
                <a:solidFill>
                  <a:srgbClr val="172525"/>
                </a:solidFill>
              </a:rPr>
              <a:t>Full HIPAA audit trail captured from day one</a:t>
            </a:r>
            <a:endParaRPr lang="en-US" sz="950" dirty="0"/>
          </a:p>
        </p:txBody>
      </p:sp>
      <p:sp>
        <p:nvSpPr>
          <p:cNvPr id="19" name="Shape 17"/>
          <p:cNvSpPr/>
          <p:nvPr/>
        </p:nvSpPr>
        <p:spPr>
          <a:xfrm>
            <a:off x="274320" y="2962656"/>
            <a:ext cx="804672" cy="795528"/>
          </a:xfrm>
          <a:prstGeom prst="rect">
            <a:avLst/>
          </a:prstGeom>
          <a:solidFill>
            <a:srgbClr val="24734F"/>
          </a:solidFill>
          <a:ln w="12700">
            <a:solidFill>
              <a:srgbClr val="24734F"/>
            </a:solidFill>
            <a:prstDash val="solid"/>
          </a:ln>
        </p:spPr>
      </p:sp>
      <p:sp>
        <p:nvSpPr>
          <p:cNvPr id="20" name="Text 18"/>
          <p:cNvSpPr/>
          <p:nvPr/>
        </p:nvSpPr>
        <p:spPr>
          <a:xfrm>
            <a:off x="274320" y="2990088"/>
            <a:ext cx="804672" cy="347472"/>
          </a:xfrm>
          <a:prstGeom prst="rect">
            <a:avLst/>
          </a:prstGeom>
          <a:noFill/>
          <a:ln/>
        </p:spPr>
        <p:txBody>
          <a:bodyPr wrap="square" lIns="0" tIns="0" rIns="0" bIns="0" rtlCol="0" anchor="ctr"/>
          <a:lstStyle/>
          <a:p>
            <a:pPr algn="ctr" indent="0" marL="0">
              <a:buNone/>
            </a:pPr>
            <a:r>
              <a:rPr lang="en-US" sz="1050" b="1" dirty="0">
                <a:solidFill>
                  <a:srgbClr val="FFFFFF"/>
                </a:solidFill>
              </a:rPr>
              <a:t>03</a:t>
            </a:r>
            <a:endParaRPr lang="en-US" sz="1050" dirty="0"/>
          </a:p>
        </p:txBody>
      </p:sp>
      <p:sp>
        <p:nvSpPr>
          <p:cNvPr id="21" name="Text 19"/>
          <p:cNvSpPr/>
          <p:nvPr/>
        </p:nvSpPr>
        <p:spPr>
          <a:xfrm>
            <a:off x="274320" y="3364992"/>
            <a:ext cx="804672" cy="365760"/>
          </a:xfrm>
          <a:prstGeom prst="rect">
            <a:avLst/>
          </a:prstGeom>
          <a:noFill/>
          <a:ln/>
        </p:spPr>
        <p:txBody>
          <a:bodyPr wrap="square" lIns="0" tIns="0" rIns="0" bIns="0" rtlCol="0" anchor="ctr"/>
          <a:lstStyle/>
          <a:p>
            <a:pPr algn="ctr" indent="0" marL="0">
              <a:buNone/>
            </a:pPr>
            <a:r>
              <a:rPr lang="en-US" sz="1000" b="1" dirty="0">
                <a:solidFill>
                  <a:srgbClr val="FFFFFF"/>
                </a:solidFill>
              </a:rPr>
              <a:t>Guide</a:t>
            </a:r>
            <a:endParaRPr lang="en-US" sz="1000" dirty="0"/>
          </a:p>
        </p:txBody>
      </p:sp>
      <p:sp>
        <p:nvSpPr>
          <p:cNvPr id="22" name="Shape 20"/>
          <p:cNvSpPr/>
          <p:nvPr/>
        </p:nvSpPr>
        <p:spPr>
          <a:xfrm>
            <a:off x="1115568" y="2962656"/>
            <a:ext cx="3657600" cy="795528"/>
          </a:xfrm>
          <a:prstGeom prst="rect">
            <a:avLst/>
          </a:prstGeom>
          <a:solidFill>
            <a:srgbClr val="FFFFFF"/>
          </a:solidFill>
          <a:ln w="12700">
            <a:solidFill>
              <a:srgbClr val="CBD6D3"/>
            </a:solidFill>
            <a:prstDash val="solid"/>
          </a:ln>
        </p:spPr>
      </p:sp>
      <p:sp>
        <p:nvSpPr>
          <p:cNvPr id="23" name="Text 21"/>
          <p:cNvSpPr/>
          <p:nvPr/>
        </p:nvSpPr>
        <p:spPr>
          <a:xfrm>
            <a:off x="1188720" y="3008376"/>
            <a:ext cx="3529584" cy="704088"/>
          </a:xfrm>
          <a:prstGeom prst="rect">
            <a:avLst/>
          </a:prstGeom>
          <a:noFill/>
          <a:ln/>
        </p:spPr>
        <p:txBody>
          <a:bodyPr wrap="square" lIns="0" tIns="0" rIns="0" bIns="0" rtlCol="0" anchor="t"/>
          <a:lstStyle/>
          <a:p>
            <a:pPr indent="0" marL="0">
              <a:buNone/>
            </a:pPr>
            <a:r>
              <a:rPr lang="en-US" sz="950" dirty="0">
                <a:solidFill>
                  <a:srgbClr val="172525"/>
                </a:solidFill>
              </a:rPr>
              <a:t>Medication reminders at prescribed times</a:t>
            </a:r>
            <a:endParaRPr lang="en-US" sz="950" dirty="0"/>
          </a:p>
          <a:p>
            <a:pPr indent="0" marL="0">
              <a:buNone/>
            </a:pPr>
            <a:r>
              <a:rPr lang="en-US" sz="950" dirty="0">
                <a:solidFill>
                  <a:srgbClr val="172525"/>
                </a:solidFill>
              </a:rPr>
              <a:t>Tiered intensity: days 1-7 are highest-risk</a:t>
            </a:r>
            <a:endParaRPr lang="en-US" sz="950" dirty="0"/>
          </a:p>
          <a:p>
            <a:pPr indent="0" marL="0">
              <a:buNone/>
            </a:pPr>
            <a:r>
              <a:rPr lang="en-US" sz="950" dirty="0">
                <a:solidFill>
                  <a:srgbClr val="172525"/>
                </a:solidFill>
              </a:rPr>
              <a:t>Appointment reminders with confirmation request</a:t>
            </a:r>
            <a:endParaRPr lang="en-US" sz="950" dirty="0"/>
          </a:p>
          <a:p>
            <a:pPr indent="0" marL="0">
              <a:buNone/>
            </a:pPr>
            <a:r>
              <a:rPr lang="en-US" sz="950" dirty="0">
                <a:solidFill>
                  <a:srgbClr val="172525"/>
                </a:solidFill>
              </a:rPr>
              <a:t>Symptom and vital-sign check-in prompts</a:t>
            </a:r>
            <a:endParaRPr lang="en-US" sz="950" dirty="0"/>
          </a:p>
        </p:txBody>
      </p:sp>
      <p:sp>
        <p:nvSpPr>
          <p:cNvPr id="24" name="Shape 22"/>
          <p:cNvSpPr/>
          <p:nvPr/>
        </p:nvSpPr>
        <p:spPr>
          <a:xfrm>
            <a:off x="4818888" y="2962656"/>
            <a:ext cx="4050792" cy="795528"/>
          </a:xfrm>
          <a:prstGeom prst="rect">
            <a:avLst/>
          </a:prstGeom>
          <a:solidFill>
            <a:srgbClr val="E2F3E9"/>
          </a:solidFill>
          <a:ln w="12700">
            <a:solidFill>
              <a:srgbClr val="CBD6D3"/>
            </a:solidFill>
            <a:prstDash val="solid"/>
          </a:ln>
        </p:spPr>
      </p:sp>
      <p:sp>
        <p:nvSpPr>
          <p:cNvPr id="25" name="Text 23"/>
          <p:cNvSpPr/>
          <p:nvPr/>
        </p:nvSpPr>
        <p:spPr>
          <a:xfrm>
            <a:off x="4901184" y="3008376"/>
            <a:ext cx="3904488" cy="704088"/>
          </a:xfrm>
          <a:prstGeom prst="rect">
            <a:avLst/>
          </a:prstGeom>
          <a:noFill/>
          <a:ln/>
        </p:spPr>
        <p:txBody>
          <a:bodyPr wrap="square" lIns="0" tIns="0" rIns="0" bIns="0" rtlCol="0" anchor="t"/>
          <a:lstStyle/>
          <a:p>
            <a:pPr indent="0" marL="0">
              <a:buNone/>
            </a:pPr>
            <a:r>
              <a:rPr lang="en-US" sz="950" dirty="0">
                <a:solidFill>
                  <a:srgbClr val="172525"/>
                </a:solidFill>
              </a:rPr>
              <a:t>Prescription refill reminders before supply runs out</a:t>
            </a:r>
            <a:endParaRPr lang="en-US" sz="950" dirty="0"/>
          </a:p>
          <a:p>
            <a:pPr indent="0" marL="0">
              <a:buNone/>
            </a:pPr>
            <a:r>
              <a:rPr lang="en-US" sz="950" dirty="0">
                <a:solidFill>
                  <a:srgbClr val="172525"/>
                </a:solidFill>
              </a:rPr>
              <a:t>Equipment, diet and activity task reminders</a:t>
            </a:r>
            <a:endParaRPr lang="en-US" sz="950" dirty="0"/>
          </a:p>
          <a:p>
            <a:pPr indent="0" marL="0">
              <a:buNone/>
            </a:pPr>
            <a:r>
              <a:rPr lang="en-US" sz="950" dirty="0">
                <a:solidFill>
                  <a:srgbClr val="172525"/>
                </a:solidFill>
              </a:rPr>
              <a:t>In-home caregiver VisitNote logs adherence daily</a:t>
            </a:r>
            <a:endParaRPr lang="en-US" sz="950" dirty="0"/>
          </a:p>
          <a:p>
            <a:pPr indent="0" marL="0">
              <a:buNone/>
            </a:pPr>
            <a:r>
              <a:rPr lang="en-US" sz="950" dirty="0">
                <a:solidFill>
                  <a:srgbClr val="172525"/>
                </a:solidFill>
              </a:rPr>
              <a:t>Family proxy receives plan updates and alerts</a:t>
            </a:r>
            <a:endParaRPr lang="en-US" sz="950" dirty="0"/>
          </a:p>
        </p:txBody>
      </p:sp>
      <p:sp>
        <p:nvSpPr>
          <p:cNvPr id="26" name="Shape 24"/>
          <p:cNvSpPr/>
          <p:nvPr/>
        </p:nvSpPr>
        <p:spPr>
          <a:xfrm>
            <a:off x="274320" y="3886200"/>
            <a:ext cx="804672" cy="795528"/>
          </a:xfrm>
          <a:prstGeom prst="rect">
            <a:avLst/>
          </a:prstGeom>
          <a:solidFill>
            <a:srgbClr val="8A6100"/>
          </a:solidFill>
          <a:ln w="12700">
            <a:solidFill>
              <a:srgbClr val="8A6100"/>
            </a:solidFill>
            <a:prstDash val="solid"/>
          </a:ln>
        </p:spPr>
      </p:sp>
      <p:sp>
        <p:nvSpPr>
          <p:cNvPr id="27" name="Text 25"/>
          <p:cNvSpPr/>
          <p:nvPr/>
        </p:nvSpPr>
        <p:spPr>
          <a:xfrm>
            <a:off x="274320" y="3913632"/>
            <a:ext cx="804672" cy="347472"/>
          </a:xfrm>
          <a:prstGeom prst="rect">
            <a:avLst/>
          </a:prstGeom>
          <a:noFill/>
          <a:ln/>
        </p:spPr>
        <p:txBody>
          <a:bodyPr wrap="square" lIns="0" tIns="0" rIns="0" bIns="0" rtlCol="0" anchor="ctr"/>
          <a:lstStyle/>
          <a:p>
            <a:pPr algn="ctr" indent="0" marL="0">
              <a:buNone/>
            </a:pPr>
            <a:r>
              <a:rPr lang="en-US" sz="1050" b="1" dirty="0">
                <a:solidFill>
                  <a:srgbClr val="FFFFFF"/>
                </a:solidFill>
              </a:rPr>
              <a:t>04</a:t>
            </a:r>
            <a:endParaRPr lang="en-US" sz="1050" dirty="0"/>
          </a:p>
        </p:txBody>
      </p:sp>
      <p:sp>
        <p:nvSpPr>
          <p:cNvPr id="28" name="Text 26"/>
          <p:cNvSpPr/>
          <p:nvPr/>
        </p:nvSpPr>
        <p:spPr>
          <a:xfrm>
            <a:off x="274320" y="4288536"/>
            <a:ext cx="804672" cy="365760"/>
          </a:xfrm>
          <a:prstGeom prst="rect">
            <a:avLst/>
          </a:prstGeom>
          <a:noFill/>
          <a:ln/>
        </p:spPr>
        <p:txBody>
          <a:bodyPr wrap="square" lIns="0" tIns="0" rIns="0" bIns="0" rtlCol="0" anchor="ctr"/>
          <a:lstStyle/>
          <a:p>
            <a:pPr algn="ctr" indent="0" marL="0">
              <a:buNone/>
            </a:pPr>
            <a:r>
              <a:rPr lang="en-US" sz="1000" b="1" dirty="0">
                <a:solidFill>
                  <a:srgbClr val="FFFFFF"/>
                </a:solidFill>
              </a:rPr>
              <a:t>Escalate</a:t>
            </a:r>
            <a:endParaRPr lang="en-US" sz="1000" dirty="0"/>
          </a:p>
        </p:txBody>
      </p:sp>
      <p:sp>
        <p:nvSpPr>
          <p:cNvPr id="29" name="Shape 27"/>
          <p:cNvSpPr/>
          <p:nvPr/>
        </p:nvSpPr>
        <p:spPr>
          <a:xfrm>
            <a:off x="1115568" y="3886200"/>
            <a:ext cx="3657600" cy="795528"/>
          </a:xfrm>
          <a:prstGeom prst="rect">
            <a:avLst/>
          </a:prstGeom>
          <a:solidFill>
            <a:srgbClr val="FFFFFF"/>
          </a:solidFill>
          <a:ln w="12700">
            <a:solidFill>
              <a:srgbClr val="CBD6D3"/>
            </a:solidFill>
            <a:prstDash val="solid"/>
          </a:ln>
        </p:spPr>
      </p:sp>
      <p:sp>
        <p:nvSpPr>
          <p:cNvPr id="30" name="Text 28"/>
          <p:cNvSpPr/>
          <p:nvPr/>
        </p:nvSpPr>
        <p:spPr>
          <a:xfrm>
            <a:off x="1188720" y="3931920"/>
            <a:ext cx="3529584" cy="704088"/>
          </a:xfrm>
          <a:prstGeom prst="rect">
            <a:avLst/>
          </a:prstGeom>
          <a:noFill/>
          <a:ln/>
        </p:spPr>
        <p:txBody>
          <a:bodyPr wrap="square" lIns="0" tIns="0" rIns="0" bIns="0" rtlCol="0" anchor="t"/>
          <a:lstStyle/>
          <a:p>
            <a:pPr indent="0" marL="0">
              <a:buNone/>
            </a:pPr>
            <a:r>
              <a:rPr lang="en-US" sz="950" dirty="0">
                <a:solidFill>
                  <a:srgbClr val="172525"/>
                </a:solidFill>
              </a:rPr>
              <a:t>Missed critical tasks notify coordinator immediately</a:t>
            </a:r>
            <a:endParaRPr lang="en-US" sz="950" dirty="0"/>
          </a:p>
          <a:p>
            <a:pPr indent="0" marL="0">
              <a:buNone/>
            </a:pPr>
            <a:r>
              <a:rPr lang="en-US" sz="950" dirty="0">
                <a:solidFill>
                  <a:srgbClr val="172525"/>
                </a:solidFill>
              </a:rPr>
              <a:t>Warning symptoms follow clinician-authored escalation paths</a:t>
            </a:r>
            <a:endParaRPr lang="en-US" sz="950" dirty="0"/>
          </a:p>
          <a:p>
            <a:pPr indent="0" marL="0">
              <a:buNone/>
            </a:pPr>
            <a:r>
              <a:rPr lang="en-US" sz="950" dirty="0">
                <a:solidFill>
                  <a:srgbClr val="172525"/>
                </a:solidFill>
              </a:rPr>
              <a:t>Escalation options: call care team, urgent care, 911</a:t>
            </a:r>
            <a:endParaRPr lang="en-US" sz="950" dirty="0"/>
          </a:p>
          <a:p>
            <a:pPr indent="0" marL="0">
              <a:buNone/>
            </a:pPr>
            <a:r>
              <a:rPr lang="en-US" sz="950" dirty="0">
                <a:solidFill>
                  <a:srgbClr val="172525"/>
                </a:solidFill>
              </a:rPr>
              <a:t>No AI diagnoses — all scripts are clinician-approved</a:t>
            </a:r>
            <a:endParaRPr lang="en-US" sz="950" dirty="0"/>
          </a:p>
        </p:txBody>
      </p:sp>
      <p:sp>
        <p:nvSpPr>
          <p:cNvPr id="31" name="Shape 29"/>
          <p:cNvSpPr/>
          <p:nvPr/>
        </p:nvSpPr>
        <p:spPr>
          <a:xfrm>
            <a:off x="4818888" y="3886200"/>
            <a:ext cx="4050792" cy="795528"/>
          </a:xfrm>
          <a:prstGeom prst="rect">
            <a:avLst/>
          </a:prstGeom>
          <a:solidFill>
            <a:srgbClr val="FFF4CF"/>
          </a:solidFill>
          <a:ln w="12700">
            <a:solidFill>
              <a:srgbClr val="CBD6D3"/>
            </a:solidFill>
            <a:prstDash val="solid"/>
          </a:ln>
        </p:spPr>
      </p:sp>
      <p:sp>
        <p:nvSpPr>
          <p:cNvPr id="32" name="Text 30"/>
          <p:cNvSpPr/>
          <p:nvPr/>
        </p:nvSpPr>
        <p:spPr>
          <a:xfrm>
            <a:off x="4901184" y="3931920"/>
            <a:ext cx="3904488" cy="704088"/>
          </a:xfrm>
          <a:prstGeom prst="rect">
            <a:avLst/>
          </a:prstGeom>
          <a:noFill/>
          <a:ln/>
        </p:spPr>
        <p:txBody>
          <a:bodyPr wrap="square" lIns="0" tIns="0" rIns="0" bIns="0" rtlCol="0" anchor="t"/>
          <a:lstStyle/>
          <a:p>
            <a:pPr indent="0" marL="0">
              <a:buNone/>
            </a:pPr>
            <a:r>
              <a:rPr lang="en-US" sz="950" dirty="0">
                <a:solidFill>
                  <a:srgbClr val="172525"/>
                </a:solidFill>
              </a:rPr>
              <a:t>Failed contact attempts logged and auto-retried</a:t>
            </a:r>
            <a:endParaRPr lang="en-US" sz="950" dirty="0"/>
          </a:p>
          <a:p>
            <a:pPr indent="0" marL="0">
              <a:buNone/>
            </a:pPr>
            <a:r>
              <a:rPr lang="en-US" sz="950" dirty="0">
                <a:solidFill>
                  <a:srgbClr val="172525"/>
                </a:solidFill>
              </a:rPr>
              <a:t>Coordinator dashboard shows all active patients</a:t>
            </a:r>
            <a:endParaRPr lang="en-US" sz="950" dirty="0"/>
          </a:p>
          <a:p>
            <a:pPr indent="0" marL="0">
              <a:buNone/>
            </a:pPr>
            <a:r>
              <a:rPr lang="en-US" sz="950" dirty="0">
                <a:solidFill>
                  <a:srgbClr val="172525"/>
                </a:solidFill>
              </a:rPr>
              <a:t>30-day outcome data tracked and reported</a:t>
            </a:r>
            <a:endParaRPr lang="en-US" sz="950" dirty="0"/>
          </a:p>
          <a:p>
            <a:pPr indent="0" marL="0">
              <a:buNone/>
            </a:pPr>
            <a:r>
              <a:rPr lang="en-US" sz="950" dirty="0">
                <a:solidFill>
                  <a:srgbClr val="172525"/>
                </a:solidFill>
              </a:rPr>
              <a:t>Hospital receives readmission-avoidance summary</a:t>
            </a:r>
            <a:endParaRPr lang="en-US" sz="950" dirty="0"/>
          </a:p>
        </p:txBody>
      </p:sp>
      <p:sp>
        <p:nvSpPr>
          <p:cNvPr id="33" name="Shape 31"/>
          <p:cNvSpPr/>
          <p:nvPr/>
        </p:nvSpPr>
        <p:spPr>
          <a:xfrm>
            <a:off x="274320" y="4837176"/>
            <a:ext cx="8595360" cy="219456"/>
          </a:xfrm>
          <a:prstGeom prst="rect">
            <a:avLst/>
          </a:prstGeom>
          <a:solidFill>
            <a:srgbClr val="D9EFF0"/>
          </a:solidFill>
          <a:ln w="12700">
            <a:solidFill>
              <a:srgbClr val="CBD6D3"/>
            </a:solidFill>
            <a:prstDash val="solid"/>
          </a:ln>
        </p:spPr>
      </p:sp>
      <p:sp>
        <p:nvSpPr>
          <p:cNvPr id="34" name="Text 32"/>
          <p:cNvSpPr/>
          <p:nvPr/>
        </p:nvSpPr>
        <p:spPr>
          <a:xfrm>
            <a:off x="411480" y="4855464"/>
            <a:ext cx="8321040" cy="182880"/>
          </a:xfrm>
          <a:prstGeom prst="rect">
            <a:avLst/>
          </a:prstGeom>
          <a:noFill/>
          <a:ln/>
        </p:spPr>
        <p:txBody>
          <a:bodyPr wrap="square" lIns="0" tIns="0" rIns="0" bIns="0" rtlCol="0" anchor="ctr"/>
          <a:lstStyle/>
          <a:p>
            <a:pPr indent="0" marL="0">
              <a:buNone/>
            </a:pPr>
            <a:r>
              <a:rPr lang="en-US" sz="850" b="1" dirty="0">
                <a:solidFill>
                  <a:srgbClr val="073F43"/>
                </a:solidFill>
              </a:rPr>
              <a:t>Safety principle: CarePath never changes dosages, diagnoses patients, or overrides clinical instructions. AI structures — clinicians authorize — every action is audited.</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7F6"/>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73F43"/>
          </a:solidFill>
          <a:ln w="12700">
            <a:solidFill>
              <a:srgbClr val="073F43"/>
            </a:solidFill>
            <a:prstDash val="solid"/>
          </a:ln>
        </p:spPr>
      </p:sp>
      <p:sp>
        <p:nvSpPr>
          <p:cNvPr id="3" name="Text 1"/>
          <p:cNvSpPr/>
          <p:nvPr/>
        </p:nvSpPr>
        <p:spPr>
          <a:xfrm>
            <a:off x="457200" y="54864"/>
            <a:ext cx="8229600" cy="274320"/>
          </a:xfrm>
          <a:prstGeom prst="rect">
            <a:avLst/>
          </a:prstGeom>
          <a:noFill/>
          <a:ln/>
        </p:spPr>
        <p:txBody>
          <a:bodyPr wrap="square" lIns="0" tIns="0" rIns="0" bIns="0" rtlCol="0" anchor="ctr"/>
          <a:lstStyle/>
          <a:p>
            <a:pPr indent="0" marL="0">
              <a:buNone/>
            </a:pPr>
            <a:r>
              <a:rPr lang="en-US" sz="900" b="1" spc="400" kern="0" dirty="0">
                <a:solidFill>
                  <a:srgbClr val="D9EFF0"/>
                </a:solidFill>
              </a:rPr>
              <a:t>CAREPATH'S UNFAIR ADVANTAGE</a:t>
            </a:r>
            <a:endParaRPr lang="en-US" sz="900" dirty="0"/>
          </a:p>
        </p:txBody>
      </p:sp>
      <p:sp>
        <p:nvSpPr>
          <p:cNvPr id="4" name="Text 2"/>
          <p:cNvSpPr/>
          <p:nvPr/>
        </p:nvSpPr>
        <p:spPr>
          <a:xfrm>
            <a:off x="457200" y="384048"/>
            <a:ext cx="8229600" cy="521208"/>
          </a:xfrm>
          <a:prstGeom prst="rect">
            <a:avLst/>
          </a:prstGeom>
          <a:noFill/>
          <a:ln/>
        </p:spPr>
        <p:txBody>
          <a:bodyPr wrap="square" lIns="0" tIns="0" rIns="0" bIns="0" rtlCol="0" anchor="ctr"/>
          <a:lstStyle/>
          <a:p>
            <a:pPr indent="0" marL="0">
              <a:buNone/>
            </a:pPr>
            <a:r>
              <a:rPr lang="en-US" sz="1700" b="1" dirty="0">
                <a:solidFill>
                  <a:srgbClr val="FFFFFF"/>
                </a:solidFill>
              </a:rPr>
              <a:t>Five things competitors cannot replicate without rebuilding from scratch.</a:t>
            </a:r>
            <a:endParaRPr lang="en-US" sz="1700" dirty="0"/>
          </a:p>
        </p:txBody>
      </p:sp>
      <p:sp>
        <p:nvSpPr>
          <p:cNvPr id="5" name="Shape 3"/>
          <p:cNvSpPr/>
          <p:nvPr/>
        </p:nvSpPr>
        <p:spPr>
          <a:xfrm>
            <a:off x="274320" y="1143000"/>
            <a:ext cx="8595360" cy="694944"/>
          </a:xfrm>
          <a:prstGeom prst="rect">
            <a:avLst/>
          </a:prstGeom>
          <a:solidFill>
            <a:srgbClr val="FFFFFF"/>
          </a:solidFill>
          <a:ln w="12700">
            <a:solidFill>
              <a:srgbClr val="CBD6D3"/>
            </a:solidFill>
            <a:prstDash val="solid"/>
          </a:ln>
          <a:effectLst>
            <a:outerShdw sx="100000" sy="100000" kx="0" ky="0" algn="bl" rotWithShape="0" blurRad="101600" dist="25400" dir="8100000">
              <a:srgbClr val="000000">
                <a:alpha val="9000"/>
              </a:srgbClr>
            </a:outerShdw>
          </a:effectLst>
        </p:spPr>
      </p:sp>
      <p:sp>
        <p:nvSpPr>
          <p:cNvPr id="6" name="Shape 4"/>
          <p:cNvSpPr/>
          <p:nvPr/>
        </p:nvSpPr>
        <p:spPr>
          <a:xfrm>
            <a:off x="274320" y="1143000"/>
            <a:ext cx="91440" cy="694944"/>
          </a:xfrm>
          <a:prstGeom prst="rect">
            <a:avLst/>
          </a:prstGeom>
          <a:solidFill>
            <a:srgbClr val="08737B"/>
          </a:solidFill>
          <a:ln w="12700">
            <a:solidFill>
              <a:srgbClr val="08737B"/>
            </a:solidFill>
            <a:prstDash val="solid"/>
          </a:ln>
        </p:spPr>
      </p:sp>
      <p:sp>
        <p:nvSpPr>
          <p:cNvPr id="7" name="Text 5"/>
          <p:cNvSpPr/>
          <p:nvPr/>
        </p:nvSpPr>
        <p:spPr>
          <a:xfrm>
            <a:off x="438912" y="1161288"/>
            <a:ext cx="457200" cy="347472"/>
          </a:xfrm>
          <a:prstGeom prst="rect">
            <a:avLst/>
          </a:prstGeom>
          <a:noFill/>
          <a:ln/>
        </p:spPr>
        <p:txBody>
          <a:bodyPr wrap="square" lIns="0" tIns="0" rIns="0" bIns="0" rtlCol="0" anchor="ctr"/>
          <a:lstStyle/>
          <a:p>
            <a:pPr indent="0" marL="0">
              <a:buNone/>
            </a:pPr>
            <a:r>
              <a:rPr lang="en-US" sz="1800" b="1" dirty="0">
                <a:solidFill>
                  <a:srgbClr val="08737B"/>
                </a:solidFill>
              </a:rPr>
              <a:t>01</a:t>
            </a:r>
            <a:endParaRPr lang="en-US" sz="1800" dirty="0"/>
          </a:p>
        </p:txBody>
      </p:sp>
      <p:sp>
        <p:nvSpPr>
          <p:cNvPr id="8" name="Text 6"/>
          <p:cNvSpPr/>
          <p:nvPr/>
        </p:nvSpPr>
        <p:spPr>
          <a:xfrm>
            <a:off x="969264" y="1197864"/>
            <a:ext cx="3246120" cy="292608"/>
          </a:xfrm>
          <a:prstGeom prst="rect">
            <a:avLst/>
          </a:prstGeom>
          <a:noFill/>
          <a:ln/>
        </p:spPr>
        <p:txBody>
          <a:bodyPr wrap="square" lIns="0" tIns="0" rIns="0" bIns="0" rtlCol="0" anchor="ctr"/>
          <a:lstStyle/>
          <a:p>
            <a:pPr indent="0" marL="0">
              <a:buNone/>
            </a:pPr>
            <a:r>
              <a:rPr lang="en-US" sz="1100" b="1" dirty="0">
                <a:solidFill>
                  <a:srgbClr val="172525"/>
                </a:solidFill>
              </a:rPr>
              <a:t>In-Home Caregivers as Adherence Observers</a:t>
            </a:r>
            <a:endParaRPr lang="en-US" sz="1100" dirty="0"/>
          </a:p>
        </p:txBody>
      </p:sp>
      <p:sp>
        <p:nvSpPr>
          <p:cNvPr id="9" name="Text 7"/>
          <p:cNvSpPr/>
          <p:nvPr/>
        </p:nvSpPr>
        <p:spPr>
          <a:xfrm>
            <a:off x="4370832" y="1179576"/>
            <a:ext cx="4407408" cy="640080"/>
          </a:xfrm>
          <a:prstGeom prst="rect">
            <a:avLst/>
          </a:prstGeom>
          <a:noFill/>
          <a:ln/>
        </p:spPr>
        <p:txBody>
          <a:bodyPr wrap="square" lIns="0" tIns="0" rIns="0" bIns="0" rtlCol="0" anchor="ctr"/>
          <a:lstStyle/>
          <a:p>
            <a:pPr indent="0" marL="0">
              <a:buNone/>
            </a:pPr>
            <a:r>
              <a:rPr lang="en-US" sz="950" dirty="0">
                <a:solidFill>
                  <a:srgbClr val="60706E"/>
                </a:solidFill>
              </a:rPr>
              <a:t>CarePath caregivers are physically in patients homes. Every VisitNote during a 30-day transition captures medication status, condition flags, and client feedback — closing the adherence loop in a way no app-only competitor can match. This is the single biggest moat.</a:t>
            </a:r>
            <a:endParaRPr lang="en-US" sz="950" dirty="0"/>
          </a:p>
        </p:txBody>
      </p:sp>
      <p:sp>
        <p:nvSpPr>
          <p:cNvPr id="10" name="Shape 8"/>
          <p:cNvSpPr/>
          <p:nvPr/>
        </p:nvSpPr>
        <p:spPr>
          <a:xfrm>
            <a:off x="4315968" y="1234440"/>
            <a:ext cx="0" cy="512064"/>
          </a:xfrm>
          <a:prstGeom prst="line">
            <a:avLst/>
          </a:prstGeom>
          <a:noFill/>
          <a:ln w="6350">
            <a:solidFill>
              <a:srgbClr val="CBD6D3"/>
            </a:solidFill>
            <a:prstDash val="solid"/>
          </a:ln>
        </p:spPr>
      </p:sp>
      <p:sp>
        <p:nvSpPr>
          <p:cNvPr id="11" name="Shape 9"/>
          <p:cNvSpPr/>
          <p:nvPr/>
        </p:nvSpPr>
        <p:spPr>
          <a:xfrm>
            <a:off x="274320" y="1911096"/>
            <a:ext cx="8595360" cy="694944"/>
          </a:xfrm>
          <a:prstGeom prst="rect">
            <a:avLst/>
          </a:prstGeom>
          <a:solidFill>
            <a:srgbClr val="FFFFFF"/>
          </a:solidFill>
          <a:ln w="12700">
            <a:solidFill>
              <a:srgbClr val="CBD6D3"/>
            </a:solidFill>
            <a:prstDash val="solid"/>
          </a:ln>
          <a:effectLst>
            <a:outerShdw sx="100000" sy="100000" kx="0" ky="0" algn="bl" rotWithShape="0" blurRad="101600" dist="25400" dir="8100000">
              <a:srgbClr val="000000">
                <a:alpha val="9000"/>
              </a:srgbClr>
            </a:outerShdw>
          </a:effectLst>
        </p:spPr>
      </p:sp>
      <p:sp>
        <p:nvSpPr>
          <p:cNvPr id="12" name="Shape 10"/>
          <p:cNvSpPr/>
          <p:nvPr/>
        </p:nvSpPr>
        <p:spPr>
          <a:xfrm>
            <a:off x="274320" y="1911096"/>
            <a:ext cx="91440" cy="694944"/>
          </a:xfrm>
          <a:prstGeom prst="rect">
            <a:avLst/>
          </a:prstGeom>
          <a:solidFill>
            <a:srgbClr val="C65323"/>
          </a:solidFill>
          <a:ln w="12700">
            <a:solidFill>
              <a:srgbClr val="C65323"/>
            </a:solidFill>
            <a:prstDash val="solid"/>
          </a:ln>
        </p:spPr>
      </p:sp>
      <p:sp>
        <p:nvSpPr>
          <p:cNvPr id="13" name="Text 11"/>
          <p:cNvSpPr/>
          <p:nvPr/>
        </p:nvSpPr>
        <p:spPr>
          <a:xfrm>
            <a:off x="438912" y="1929384"/>
            <a:ext cx="457200" cy="347472"/>
          </a:xfrm>
          <a:prstGeom prst="rect">
            <a:avLst/>
          </a:prstGeom>
          <a:noFill/>
          <a:ln/>
        </p:spPr>
        <p:txBody>
          <a:bodyPr wrap="square" lIns="0" tIns="0" rIns="0" bIns="0" rtlCol="0" anchor="ctr"/>
          <a:lstStyle/>
          <a:p>
            <a:pPr indent="0" marL="0">
              <a:buNone/>
            </a:pPr>
            <a:r>
              <a:rPr lang="en-US" sz="1800" b="1" dirty="0">
                <a:solidFill>
                  <a:srgbClr val="C65323"/>
                </a:solidFill>
              </a:rPr>
              <a:t>02</a:t>
            </a:r>
            <a:endParaRPr lang="en-US" sz="1800" dirty="0"/>
          </a:p>
        </p:txBody>
      </p:sp>
      <p:sp>
        <p:nvSpPr>
          <p:cNvPr id="14" name="Text 12"/>
          <p:cNvSpPr/>
          <p:nvPr/>
        </p:nvSpPr>
        <p:spPr>
          <a:xfrm>
            <a:off x="969264" y="1965960"/>
            <a:ext cx="3246120" cy="292608"/>
          </a:xfrm>
          <a:prstGeom prst="rect">
            <a:avLst/>
          </a:prstGeom>
          <a:noFill/>
          <a:ln/>
        </p:spPr>
        <p:txBody>
          <a:bodyPr wrap="square" lIns="0" tIns="0" rIns="0" bIns="0" rtlCol="0" anchor="ctr"/>
          <a:lstStyle/>
          <a:p>
            <a:pPr indent="0" marL="0">
              <a:buNone/>
            </a:pPr>
            <a:r>
              <a:rPr lang="en-US" sz="1100" b="1" dirty="0">
                <a:solidFill>
                  <a:srgbClr val="172525"/>
                </a:solidFill>
              </a:rPr>
              <a:t>Clinical Verification Before Any Reminder Goes Live</a:t>
            </a:r>
            <a:endParaRPr lang="en-US" sz="1100" dirty="0"/>
          </a:p>
        </p:txBody>
      </p:sp>
      <p:sp>
        <p:nvSpPr>
          <p:cNvPr id="15" name="Text 13"/>
          <p:cNvSpPr/>
          <p:nvPr/>
        </p:nvSpPr>
        <p:spPr>
          <a:xfrm>
            <a:off x="4370832" y="1947672"/>
            <a:ext cx="4407408" cy="640080"/>
          </a:xfrm>
          <a:prstGeom prst="rect">
            <a:avLst/>
          </a:prstGeom>
          <a:noFill/>
          <a:ln/>
        </p:spPr>
        <p:txBody>
          <a:bodyPr wrap="square" lIns="0" tIns="0" rIns="0" bIns="0" rtlCol="0" anchor="ctr"/>
          <a:lstStyle/>
          <a:p>
            <a:pPr indent="0" marL="0">
              <a:buNone/>
            </a:pPr>
            <a:r>
              <a:rPr lang="en-US" sz="950" dirty="0">
                <a:solidFill>
                  <a:srgbClr val="60706E"/>
                </a:solidFill>
              </a:rPr>
              <a:t>Every competitor sends reminders based on what patients or family members type in. CarePath requires a qualified clinician to review and approve the AI-extracted plan before a single notification sends. This is the difference between a utility app and a regulated care product.</a:t>
            </a:r>
            <a:endParaRPr lang="en-US" sz="950" dirty="0"/>
          </a:p>
        </p:txBody>
      </p:sp>
      <p:sp>
        <p:nvSpPr>
          <p:cNvPr id="16" name="Shape 14"/>
          <p:cNvSpPr/>
          <p:nvPr/>
        </p:nvSpPr>
        <p:spPr>
          <a:xfrm>
            <a:off x="4315968" y="2002536"/>
            <a:ext cx="0" cy="512064"/>
          </a:xfrm>
          <a:prstGeom prst="line">
            <a:avLst/>
          </a:prstGeom>
          <a:noFill/>
          <a:ln w="6350">
            <a:solidFill>
              <a:srgbClr val="CBD6D3"/>
            </a:solidFill>
            <a:prstDash val="solid"/>
          </a:ln>
        </p:spPr>
      </p:sp>
      <p:sp>
        <p:nvSpPr>
          <p:cNvPr id="17" name="Shape 15"/>
          <p:cNvSpPr/>
          <p:nvPr/>
        </p:nvSpPr>
        <p:spPr>
          <a:xfrm>
            <a:off x="274320" y="2679192"/>
            <a:ext cx="8595360" cy="694944"/>
          </a:xfrm>
          <a:prstGeom prst="rect">
            <a:avLst/>
          </a:prstGeom>
          <a:solidFill>
            <a:srgbClr val="FFFFFF"/>
          </a:solidFill>
          <a:ln w="12700">
            <a:solidFill>
              <a:srgbClr val="CBD6D3"/>
            </a:solidFill>
            <a:prstDash val="solid"/>
          </a:ln>
          <a:effectLst>
            <a:outerShdw sx="100000" sy="100000" kx="0" ky="0" algn="bl" rotWithShape="0" blurRad="101600" dist="25400" dir="8100000">
              <a:srgbClr val="000000">
                <a:alpha val="9000"/>
              </a:srgbClr>
            </a:outerShdw>
          </a:effectLst>
        </p:spPr>
      </p:sp>
      <p:sp>
        <p:nvSpPr>
          <p:cNvPr id="18" name="Shape 16"/>
          <p:cNvSpPr/>
          <p:nvPr/>
        </p:nvSpPr>
        <p:spPr>
          <a:xfrm>
            <a:off x="274320" y="2679192"/>
            <a:ext cx="91440" cy="694944"/>
          </a:xfrm>
          <a:prstGeom prst="rect">
            <a:avLst/>
          </a:prstGeom>
          <a:solidFill>
            <a:srgbClr val="24734F"/>
          </a:solidFill>
          <a:ln w="12700">
            <a:solidFill>
              <a:srgbClr val="24734F"/>
            </a:solidFill>
            <a:prstDash val="solid"/>
          </a:ln>
        </p:spPr>
      </p:sp>
      <p:sp>
        <p:nvSpPr>
          <p:cNvPr id="19" name="Text 17"/>
          <p:cNvSpPr/>
          <p:nvPr/>
        </p:nvSpPr>
        <p:spPr>
          <a:xfrm>
            <a:off x="438912" y="2697480"/>
            <a:ext cx="457200" cy="347472"/>
          </a:xfrm>
          <a:prstGeom prst="rect">
            <a:avLst/>
          </a:prstGeom>
          <a:noFill/>
          <a:ln/>
        </p:spPr>
        <p:txBody>
          <a:bodyPr wrap="square" lIns="0" tIns="0" rIns="0" bIns="0" rtlCol="0" anchor="ctr"/>
          <a:lstStyle/>
          <a:p>
            <a:pPr indent="0" marL="0">
              <a:buNone/>
            </a:pPr>
            <a:r>
              <a:rPr lang="en-US" sz="1800" b="1" dirty="0">
                <a:solidFill>
                  <a:srgbClr val="24734F"/>
                </a:solidFill>
              </a:rPr>
              <a:t>03</a:t>
            </a:r>
            <a:endParaRPr lang="en-US" sz="1800" dirty="0"/>
          </a:p>
        </p:txBody>
      </p:sp>
      <p:sp>
        <p:nvSpPr>
          <p:cNvPr id="20" name="Text 18"/>
          <p:cNvSpPr/>
          <p:nvPr/>
        </p:nvSpPr>
        <p:spPr>
          <a:xfrm>
            <a:off x="969264" y="2734056"/>
            <a:ext cx="3246120" cy="292608"/>
          </a:xfrm>
          <a:prstGeom prst="rect">
            <a:avLst/>
          </a:prstGeom>
          <a:noFill/>
          <a:ln/>
        </p:spPr>
        <p:txBody>
          <a:bodyPr wrap="square" lIns="0" tIns="0" rIns="0" bIns="0" rtlCol="0" anchor="ctr"/>
          <a:lstStyle/>
          <a:p>
            <a:pPr indent="0" marL="0">
              <a:buNone/>
            </a:pPr>
            <a:r>
              <a:rPr lang="en-US" sz="1100" b="1" dirty="0">
                <a:solidFill>
                  <a:srgbClr val="172525"/>
                </a:solidFill>
              </a:rPr>
              <a:t>HIPAA-Grade Audit Trail Already Built Into the Platform</a:t>
            </a:r>
            <a:endParaRPr lang="en-US" sz="1100" dirty="0"/>
          </a:p>
        </p:txBody>
      </p:sp>
      <p:sp>
        <p:nvSpPr>
          <p:cNvPr id="21" name="Text 19"/>
          <p:cNvSpPr/>
          <p:nvPr/>
        </p:nvSpPr>
        <p:spPr>
          <a:xfrm>
            <a:off x="4370832" y="2715768"/>
            <a:ext cx="4407408" cy="640080"/>
          </a:xfrm>
          <a:prstGeom prst="rect">
            <a:avLst/>
          </a:prstGeom>
          <a:noFill/>
          <a:ln/>
        </p:spPr>
        <p:txBody>
          <a:bodyPr wrap="square" lIns="0" tIns="0" rIns="0" bIns="0" rtlCol="0" anchor="ctr"/>
          <a:lstStyle/>
          <a:p>
            <a:pPr indent="0" marL="0">
              <a:buNone/>
            </a:pPr>
            <a:r>
              <a:rPr lang="en-US" sz="950" dirty="0">
                <a:solidFill>
                  <a:srgbClr val="60706E"/>
                </a:solidFill>
              </a:rPr>
              <a:t>The CarePath domain model tracks CreatedBy, UpdatedAt, IsDeleted, and every PHI access at the data layer. Competitors building compliance infrastructure face months of work. CarePath ships it on day one because it was designed for healthcare from the start.</a:t>
            </a:r>
            <a:endParaRPr lang="en-US" sz="950" dirty="0"/>
          </a:p>
        </p:txBody>
      </p:sp>
      <p:sp>
        <p:nvSpPr>
          <p:cNvPr id="22" name="Shape 20"/>
          <p:cNvSpPr/>
          <p:nvPr/>
        </p:nvSpPr>
        <p:spPr>
          <a:xfrm>
            <a:off x="4315968" y="2770632"/>
            <a:ext cx="0" cy="512064"/>
          </a:xfrm>
          <a:prstGeom prst="line">
            <a:avLst/>
          </a:prstGeom>
          <a:noFill/>
          <a:ln w="6350">
            <a:solidFill>
              <a:srgbClr val="CBD6D3"/>
            </a:solidFill>
            <a:prstDash val="solid"/>
          </a:ln>
        </p:spPr>
      </p:sp>
      <p:sp>
        <p:nvSpPr>
          <p:cNvPr id="23" name="Shape 21"/>
          <p:cNvSpPr/>
          <p:nvPr/>
        </p:nvSpPr>
        <p:spPr>
          <a:xfrm>
            <a:off x="274320" y="3447288"/>
            <a:ext cx="8595360" cy="694944"/>
          </a:xfrm>
          <a:prstGeom prst="rect">
            <a:avLst/>
          </a:prstGeom>
          <a:solidFill>
            <a:srgbClr val="FFFFFF"/>
          </a:solidFill>
          <a:ln w="12700">
            <a:solidFill>
              <a:srgbClr val="CBD6D3"/>
            </a:solidFill>
            <a:prstDash val="solid"/>
          </a:ln>
          <a:effectLst>
            <a:outerShdw sx="100000" sy="100000" kx="0" ky="0" algn="bl" rotWithShape="0" blurRad="101600" dist="25400" dir="8100000">
              <a:srgbClr val="000000">
                <a:alpha val="9000"/>
              </a:srgbClr>
            </a:outerShdw>
          </a:effectLst>
        </p:spPr>
      </p:sp>
      <p:sp>
        <p:nvSpPr>
          <p:cNvPr id="24" name="Shape 22"/>
          <p:cNvSpPr/>
          <p:nvPr/>
        </p:nvSpPr>
        <p:spPr>
          <a:xfrm>
            <a:off x="274320" y="3447288"/>
            <a:ext cx="91440" cy="694944"/>
          </a:xfrm>
          <a:prstGeom prst="rect">
            <a:avLst/>
          </a:prstGeom>
          <a:solidFill>
            <a:srgbClr val="8A6100"/>
          </a:solidFill>
          <a:ln w="12700">
            <a:solidFill>
              <a:srgbClr val="8A6100"/>
            </a:solidFill>
            <a:prstDash val="solid"/>
          </a:ln>
        </p:spPr>
      </p:sp>
      <p:sp>
        <p:nvSpPr>
          <p:cNvPr id="25" name="Text 23"/>
          <p:cNvSpPr/>
          <p:nvPr/>
        </p:nvSpPr>
        <p:spPr>
          <a:xfrm>
            <a:off x="438912" y="3465576"/>
            <a:ext cx="457200" cy="347472"/>
          </a:xfrm>
          <a:prstGeom prst="rect">
            <a:avLst/>
          </a:prstGeom>
          <a:noFill/>
          <a:ln/>
        </p:spPr>
        <p:txBody>
          <a:bodyPr wrap="square" lIns="0" tIns="0" rIns="0" bIns="0" rtlCol="0" anchor="ctr"/>
          <a:lstStyle/>
          <a:p>
            <a:pPr indent="0" marL="0">
              <a:buNone/>
            </a:pPr>
            <a:r>
              <a:rPr lang="en-US" sz="1800" b="1" dirty="0">
                <a:solidFill>
                  <a:srgbClr val="8A6100"/>
                </a:solidFill>
              </a:rPr>
              <a:t>04</a:t>
            </a:r>
            <a:endParaRPr lang="en-US" sz="1800" dirty="0"/>
          </a:p>
        </p:txBody>
      </p:sp>
      <p:sp>
        <p:nvSpPr>
          <p:cNvPr id="26" name="Text 24"/>
          <p:cNvSpPr/>
          <p:nvPr/>
        </p:nvSpPr>
        <p:spPr>
          <a:xfrm>
            <a:off x="969264" y="3502152"/>
            <a:ext cx="3246120" cy="292608"/>
          </a:xfrm>
          <a:prstGeom prst="rect">
            <a:avLst/>
          </a:prstGeom>
          <a:noFill/>
          <a:ln/>
        </p:spPr>
        <p:txBody>
          <a:bodyPr wrap="square" lIns="0" tIns="0" rIns="0" bIns="0" rtlCol="0" anchor="ctr"/>
          <a:lstStyle/>
          <a:p>
            <a:pPr indent="0" marL="0">
              <a:buNone/>
            </a:pPr>
            <a:r>
              <a:rPr lang="en-US" sz="1100" b="1" dirty="0">
                <a:solidFill>
                  <a:srgbClr val="172525"/>
                </a:solidFill>
              </a:rPr>
              <a:t>Zero New Data Architecture — Domain Model Already Exists</a:t>
            </a:r>
            <a:endParaRPr lang="en-US" sz="1100" dirty="0"/>
          </a:p>
        </p:txBody>
      </p:sp>
      <p:sp>
        <p:nvSpPr>
          <p:cNvPr id="27" name="Text 25"/>
          <p:cNvSpPr/>
          <p:nvPr/>
        </p:nvSpPr>
        <p:spPr>
          <a:xfrm>
            <a:off x="4370832" y="3483864"/>
            <a:ext cx="4407408" cy="640080"/>
          </a:xfrm>
          <a:prstGeom prst="rect">
            <a:avLst/>
          </a:prstGeom>
          <a:noFill/>
          <a:ln/>
        </p:spPr>
        <p:txBody>
          <a:bodyPr wrap="square" lIns="0" tIns="0" rIns="0" bIns="0" rtlCol="0" anchor="ctr"/>
          <a:lstStyle/>
          <a:p>
            <a:pPr indent="0" marL="0">
              <a:buNone/>
            </a:pPr>
            <a:r>
              <a:rPr lang="en-US" sz="950" dirty="0">
                <a:solidFill>
                  <a:srgbClr val="60706E"/>
                </a:solidFill>
              </a:rPr>
              <a:t>Client, CarePlan, Shift, VisitNote, CaregiverCertification — the full domain model is already implemented. Transitions layers on top without a new database schema. Time to a working MVP is dramatically shorter than any greenfield competitor build.</a:t>
            </a:r>
            <a:endParaRPr lang="en-US" sz="950" dirty="0"/>
          </a:p>
        </p:txBody>
      </p:sp>
      <p:sp>
        <p:nvSpPr>
          <p:cNvPr id="28" name="Shape 26"/>
          <p:cNvSpPr/>
          <p:nvPr/>
        </p:nvSpPr>
        <p:spPr>
          <a:xfrm>
            <a:off x="4315968" y="3538728"/>
            <a:ext cx="0" cy="512064"/>
          </a:xfrm>
          <a:prstGeom prst="line">
            <a:avLst/>
          </a:prstGeom>
          <a:noFill/>
          <a:ln w="6350">
            <a:solidFill>
              <a:srgbClr val="CBD6D3"/>
            </a:solidFill>
            <a:prstDash val="solid"/>
          </a:ln>
        </p:spPr>
      </p:sp>
      <p:sp>
        <p:nvSpPr>
          <p:cNvPr id="29" name="Shape 27"/>
          <p:cNvSpPr/>
          <p:nvPr/>
        </p:nvSpPr>
        <p:spPr>
          <a:xfrm>
            <a:off x="274320" y="4215384"/>
            <a:ext cx="8595360" cy="694944"/>
          </a:xfrm>
          <a:prstGeom prst="rect">
            <a:avLst/>
          </a:prstGeom>
          <a:solidFill>
            <a:srgbClr val="FFFFFF"/>
          </a:solidFill>
          <a:ln w="12700">
            <a:solidFill>
              <a:srgbClr val="CBD6D3"/>
            </a:solidFill>
            <a:prstDash val="solid"/>
          </a:ln>
          <a:effectLst>
            <a:outerShdw sx="100000" sy="100000" kx="0" ky="0" algn="bl" rotWithShape="0" blurRad="101600" dist="25400" dir="8100000">
              <a:srgbClr val="000000">
                <a:alpha val="9000"/>
              </a:srgbClr>
            </a:outerShdw>
          </a:effectLst>
        </p:spPr>
      </p:sp>
      <p:sp>
        <p:nvSpPr>
          <p:cNvPr id="30" name="Shape 28"/>
          <p:cNvSpPr/>
          <p:nvPr/>
        </p:nvSpPr>
        <p:spPr>
          <a:xfrm>
            <a:off x="274320" y="4215384"/>
            <a:ext cx="91440" cy="694944"/>
          </a:xfrm>
          <a:prstGeom prst="rect">
            <a:avLst/>
          </a:prstGeom>
          <a:solidFill>
            <a:srgbClr val="A33131"/>
          </a:solidFill>
          <a:ln w="12700">
            <a:solidFill>
              <a:srgbClr val="A33131"/>
            </a:solidFill>
            <a:prstDash val="solid"/>
          </a:ln>
        </p:spPr>
      </p:sp>
      <p:sp>
        <p:nvSpPr>
          <p:cNvPr id="31" name="Text 29"/>
          <p:cNvSpPr/>
          <p:nvPr/>
        </p:nvSpPr>
        <p:spPr>
          <a:xfrm>
            <a:off x="438912" y="4233672"/>
            <a:ext cx="457200" cy="347472"/>
          </a:xfrm>
          <a:prstGeom prst="rect">
            <a:avLst/>
          </a:prstGeom>
          <a:noFill/>
          <a:ln/>
        </p:spPr>
        <p:txBody>
          <a:bodyPr wrap="square" lIns="0" tIns="0" rIns="0" bIns="0" rtlCol="0" anchor="ctr"/>
          <a:lstStyle/>
          <a:p>
            <a:pPr indent="0" marL="0">
              <a:buNone/>
            </a:pPr>
            <a:r>
              <a:rPr lang="en-US" sz="1800" b="1" dirty="0">
                <a:solidFill>
                  <a:srgbClr val="A33131"/>
                </a:solidFill>
              </a:rPr>
              <a:t>05</a:t>
            </a:r>
            <a:endParaRPr lang="en-US" sz="1800" dirty="0"/>
          </a:p>
        </p:txBody>
      </p:sp>
      <p:sp>
        <p:nvSpPr>
          <p:cNvPr id="32" name="Text 30"/>
          <p:cNvSpPr/>
          <p:nvPr/>
        </p:nvSpPr>
        <p:spPr>
          <a:xfrm>
            <a:off x="969264" y="4270248"/>
            <a:ext cx="3246120" cy="292608"/>
          </a:xfrm>
          <a:prstGeom prst="rect">
            <a:avLst/>
          </a:prstGeom>
          <a:noFill/>
          <a:ln/>
        </p:spPr>
        <p:txBody>
          <a:bodyPr wrap="square" lIns="0" tIns="0" rIns="0" bIns="0" rtlCol="0" anchor="ctr"/>
          <a:lstStyle/>
          <a:p>
            <a:pPr indent="0" marL="0">
              <a:buNone/>
            </a:pPr>
            <a:r>
              <a:rPr lang="en-US" sz="1100" b="1" dirty="0">
                <a:solidFill>
                  <a:srgbClr val="172525"/>
                </a:solidFill>
              </a:rPr>
              <a:t>Maryland Market Positioning and HSCRC Alignment</a:t>
            </a:r>
            <a:endParaRPr lang="en-US" sz="1100" dirty="0"/>
          </a:p>
        </p:txBody>
      </p:sp>
      <p:sp>
        <p:nvSpPr>
          <p:cNvPr id="33" name="Text 31"/>
          <p:cNvSpPr/>
          <p:nvPr/>
        </p:nvSpPr>
        <p:spPr>
          <a:xfrm>
            <a:off x="4370832" y="4251960"/>
            <a:ext cx="4407408" cy="640080"/>
          </a:xfrm>
          <a:prstGeom prst="rect">
            <a:avLst/>
          </a:prstGeom>
          <a:noFill/>
          <a:ln/>
        </p:spPr>
        <p:txBody>
          <a:bodyPr wrap="square" lIns="0" tIns="0" rIns="0" bIns="0" rtlCol="0" anchor="ctr"/>
          <a:lstStyle/>
          <a:p>
            <a:pPr indent="0" marL="0">
              <a:buNone/>
            </a:pPr>
            <a:r>
              <a:rPr lang="en-US" sz="950" dirty="0">
                <a:solidFill>
                  <a:srgbClr val="60706E"/>
                </a:solidFill>
              </a:rPr>
              <a:t>Maryland HSCRC runs its own Readmission Reduction Incentive Program separate from federal HRRP. CarePath already operates in the Maryland market. Transitions can be positioned directly as a penalty-avoidance and compliance product for Maryland hospital systems — a natural first B2B foothold.</a:t>
            </a:r>
            <a:endParaRPr lang="en-US" sz="950" dirty="0"/>
          </a:p>
        </p:txBody>
      </p:sp>
      <p:sp>
        <p:nvSpPr>
          <p:cNvPr id="34" name="Shape 32"/>
          <p:cNvSpPr/>
          <p:nvPr/>
        </p:nvSpPr>
        <p:spPr>
          <a:xfrm>
            <a:off x="4315968" y="4306824"/>
            <a:ext cx="0" cy="512064"/>
          </a:xfrm>
          <a:prstGeom prst="line">
            <a:avLst/>
          </a:prstGeom>
          <a:noFill/>
          <a:ln w="6350">
            <a:solidFill>
              <a:srgbClr val="CBD6D3"/>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3F43"/>
        </a:solidFill>
      </p:bgPr>
    </p:bg>
    <p:spTree>
      <p:nvGrpSpPr>
        <p:cNvPr id="1" name=""/>
        <p:cNvGrpSpPr/>
        <p:nvPr/>
      </p:nvGrpSpPr>
      <p:grpSpPr>
        <a:xfrm>
          <a:off x="0" y="0"/>
          <a:ext cx="0" cy="0"/>
          <a:chOff x="0" y="0"/>
          <a:chExt cx="0" cy="0"/>
        </a:xfrm>
      </p:grpSpPr>
      <p:sp>
        <p:nvSpPr>
          <p:cNvPr id="2" name="Shape 0"/>
          <p:cNvSpPr/>
          <p:nvPr/>
        </p:nvSpPr>
        <p:spPr>
          <a:xfrm>
            <a:off x="-731520" y="-731520"/>
            <a:ext cx="2926080" cy="2926080"/>
          </a:xfrm>
          <a:prstGeom prst="ellipse">
            <a:avLst/>
          </a:prstGeom>
          <a:solidFill>
            <a:srgbClr val="08737B">
              <a:alpha val="28000"/>
            </a:srgbClr>
          </a:solidFill>
          <a:ln w="12700">
            <a:solidFill>
              <a:srgbClr val="08737B">
                <a:alpha val="28000"/>
              </a:srgbClr>
            </a:solidFill>
            <a:prstDash val="solid"/>
          </a:ln>
        </p:spPr>
      </p:sp>
      <p:sp>
        <p:nvSpPr>
          <p:cNvPr id="3" name="Shape 1"/>
          <p:cNvSpPr/>
          <p:nvPr/>
        </p:nvSpPr>
        <p:spPr>
          <a:xfrm>
            <a:off x="7772400" y="3291840"/>
            <a:ext cx="2103120" cy="2103120"/>
          </a:xfrm>
          <a:prstGeom prst="ellipse">
            <a:avLst/>
          </a:prstGeom>
          <a:solidFill>
            <a:srgbClr val="C65323">
              <a:alpha val="18000"/>
            </a:srgbClr>
          </a:solidFill>
          <a:ln w="12700">
            <a:solidFill>
              <a:srgbClr val="C65323">
                <a:alpha val="18000"/>
              </a:srgbClr>
            </a:solidFill>
            <a:prstDash val="solid"/>
          </a:ln>
        </p:spPr>
      </p:sp>
      <p:sp>
        <p:nvSpPr>
          <p:cNvPr id="4" name="Shape 2"/>
          <p:cNvSpPr/>
          <p:nvPr/>
        </p:nvSpPr>
        <p:spPr>
          <a:xfrm>
            <a:off x="0" y="0"/>
            <a:ext cx="9144000" cy="91440"/>
          </a:xfrm>
          <a:prstGeom prst="rect">
            <a:avLst/>
          </a:prstGeom>
          <a:solidFill>
            <a:srgbClr val="C65323"/>
          </a:solidFill>
          <a:ln w="12700">
            <a:solidFill>
              <a:srgbClr val="C65323"/>
            </a:solidFill>
            <a:prstDash val="solid"/>
          </a:ln>
        </p:spPr>
      </p:sp>
      <p:sp>
        <p:nvSpPr>
          <p:cNvPr id="5" name="Text 3"/>
          <p:cNvSpPr/>
          <p:nvPr/>
        </p:nvSpPr>
        <p:spPr>
          <a:xfrm>
            <a:off x="457200" y="228600"/>
            <a:ext cx="8229600" cy="320040"/>
          </a:xfrm>
          <a:prstGeom prst="rect">
            <a:avLst/>
          </a:prstGeom>
          <a:noFill/>
          <a:ln/>
        </p:spPr>
        <p:txBody>
          <a:bodyPr wrap="square" lIns="0" tIns="0" rIns="0" bIns="0" rtlCol="0" anchor="ctr"/>
          <a:lstStyle/>
          <a:p>
            <a:pPr indent="0" marL="0">
              <a:buNone/>
            </a:pPr>
            <a:r>
              <a:rPr lang="en-US" sz="900" b="1" spc="400" kern="0" dirty="0">
                <a:solidFill>
                  <a:srgbClr val="D9EFF0"/>
                </a:solidFill>
              </a:rPr>
              <a:t>RECOMMENDED MVP PATH</a:t>
            </a:r>
            <a:endParaRPr lang="en-US" sz="900" dirty="0"/>
          </a:p>
        </p:txBody>
      </p:sp>
      <p:sp>
        <p:nvSpPr>
          <p:cNvPr id="6" name="Text 4"/>
          <p:cNvSpPr/>
          <p:nvPr/>
        </p:nvSpPr>
        <p:spPr>
          <a:xfrm>
            <a:off x="457200" y="621792"/>
            <a:ext cx="8229600" cy="475488"/>
          </a:xfrm>
          <a:prstGeom prst="rect">
            <a:avLst/>
          </a:prstGeom>
          <a:noFill/>
          <a:ln/>
        </p:spPr>
        <p:txBody>
          <a:bodyPr wrap="square" lIns="0" tIns="0" rIns="0" bIns="0" rtlCol="0" anchor="ctr"/>
          <a:lstStyle/>
          <a:p>
            <a:pPr indent="0" marL="0">
              <a:buNone/>
            </a:pPr>
            <a:r>
              <a:rPr lang="en-US" sz="1800" b="1" dirty="0">
                <a:solidFill>
                  <a:srgbClr val="FFFFFF"/>
                </a:solidFill>
              </a:rPr>
              <a:t>Start with the safest workflow. Prove patient engagement. Expand to hospital contracts.</a:t>
            </a:r>
            <a:endParaRPr lang="en-US" sz="1800" dirty="0"/>
          </a:p>
        </p:txBody>
      </p:sp>
      <p:sp>
        <p:nvSpPr>
          <p:cNvPr id="7" name="Shape 5"/>
          <p:cNvSpPr/>
          <p:nvPr/>
        </p:nvSpPr>
        <p:spPr>
          <a:xfrm>
            <a:off x="274320" y="1261872"/>
            <a:ext cx="2011680" cy="3630168"/>
          </a:xfrm>
          <a:prstGeom prst="rect">
            <a:avLst/>
          </a:prstGeom>
          <a:solidFill>
            <a:srgbClr val="0A3A3E"/>
          </a:solidFill>
          <a:ln w="12700">
            <a:solidFill>
              <a:srgbClr val="1A5B62"/>
            </a:solidFill>
            <a:prstDash val="solid"/>
          </a:ln>
        </p:spPr>
      </p:sp>
      <p:sp>
        <p:nvSpPr>
          <p:cNvPr id="8" name="Shape 6"/>
          <p:cNvSpPr/>
          <p:nvPr/>
        </p:nvSpPr>
        <p:spPr>
          <a:xfrm>
            <a:off x="274320" y="1261872"/>
            <a:ext cx="2011680" cy="502920"/>
          </a:xfrm>
          <a:prstGeom prst="rect">
            <a:avLst/>
          </a:prstGeom>
          <a:solidFill>
            <a:srgbClr val="08737B"/>
          </a:solidFill>
          <a:ln w="12700">
            <a:solidFill>
              <a:srgbClr val="08737B"/>
            </a:solidFill>
            <a:prstDash val="solid"/>
          </a:ln>
        </p:spPr>
      </p:sp>
      <p:sp>
        <p:nvSpPr>
          <p:cNvPr id="9" name="Text 7"/>
          <p:cNvSpPr/>
          <p:nvPr/>
        </p:nvSpPr>
        <p:spPr>
          <a:xfrm>
            <a:off x="365760" y="1280160"/>
            <a:ext cx="1280160" cy="274320"/>
          </a:xfrm>
          <a:prstGeom prst="rect">
            <a:avLst/>
          </a:prstGeom>
          <a:noFill/>
          <a:ln/>
        </p:spPr>
        <p:txBody>
          <a:bodyPr wrap="square" lIns="0" tIns="0" rIns="0" bIns="0" rtlCol="0" anchor="ctr"/>
          <a:lstStyle/>
          <a:p>
            <a:pPr indent="0" marL="0">
              <a:buNone/>
            </a:pPr>
            <a:r>
              <a:rPr lang="en-US" sz="1150" b="1" dirty="0">
                <a:solidFill>
                  <a:srgbClr val="FFFFFF"/>
                </a:solidFill>
              </a:rPr>
              <a:t>Phase 1</a:t>
            </a:r>
            <a:endParaRPr lang="en-US" sz="1150" dirty="0"/>
          </a:p>
        </p:txBody>
      </p:sp>
      <p:sp>
        <p:nvSpPr>
          <p:cNvPr id="10" name="Shape 8"/>
          <p:cNvSpPr/>
          <p:nvPr/>
        </p:nvSpPr>
        <p:spPr>
          <a:xfrm>
            <a:off x="1627632" y="1280160"/>
            <a:ext cx="612648" cy="237744"/>
          </a:xfrm>
          <a:prstGeom prst="rect">
            <a:avLst/>
          </a:prstGeom>
          <a:solidFill>
            <a:srgbClr val="052E31"/>
          </a:solidFill>
          <a:ln w="12700">
            <a:solidFill>
              <a:srgbClr val="1A5B62"/>
            </a:solidFill>
            <a:prstDash val="solid"/>
          </a:ln>
        </p:spPr>
      </p:sp>
      <p:sp>
        <p:nvSpPr>
          <p:cNvPr id="11" name="Text 9"/>
          <p:cNvSpPr/>
          <p:nvPr/>
        </p:nvSpPr>
        <p:spPr>
          <a:xfrm>
            <a:off x="1627632" y="1289304"/>
            <a:ext cx="612648" cy="219456"/>
          </a:xfrm>
          <a:prstGeom prst="rect">
            <a:avLst/>
          </a:prstGeom>
          <a:noFill/>
          <a:ln/>
        </p:spPr>
        <p:txBody>
          <a:bodyPr wrap="square" lIns="0" tIns="0" rIns="0" bIns="0" rtlCol="0" anchor="ctr"/>
          <a:lstStyle/>
          <a:p>
            <a:pPr algn="ctr" indent="0" marL="0">
              <a:buNone/>
            </a:pPr>
            <a:r>
              <a:rPr lang="en-US" sz="700" b="1" dirty="0">
                <a:solidFill>
                  <a:srgbClr val="C65323"/>
                </a:solidFill>
              </a:rPr>
              <a:t>MVP CORE</a:t>
            </a:r>
            <a:endParaRPr lang="en-US" sz="700" dirty="0"/>
          </a:p>
        </p:txBody>
      </p:sp>
      <p:sp>
        <p:nvSpPr>
          <p:cNvPr id="12" name="Text 10"/>
          <p:cNvSpPr/>
          <p:nvPr/>
        </p:nvSpPr>
        <p:spPr>
          <a:xfrm>
            <a:off x="365760" y="1554480"/>
            <a:ext cx="1847088" cy="201168"/>
          </a:xfrm>
          <a:prstGeom prst="rect">
            <a:avLst/>
          </a:prstGeom>
          <a:noFill/>
          <a:ln/>
        </p:spPr>
        <p:txBody>
          <a:bodyPr wrap="square" lIns="0" tIns="0" rIns="0" bIns="0" rtlCol="0" anchor="ctr"/>
          <a:lstStyle/>
          <a:p>
            <a:pPr indent="0" marL="0">
              <a:buNone/>
            </a:pPr>
            <a:r>
              <a:rPr lang="en-US" sz="850" i="1" dirty="0">
                <a:solidFill>
                  <a:srgbClr val="D9EFF0"/>
                </a:solidFill>
              </a:rPr>
              <a:t>Month 1 – 2</a:t>
            </a:r>
            <a:endParaRPr lang="en-US" sz="850" dirty="0"/>
          </a:p>
        </p:txBody>
      </p:sp>
      <p:sp>
        <p:nvSpPr>
          <p:cNvPr id="13" name="Shape 11"/>
          <p:cNvSpPr/>
          <p:nvPr/>
        </p:nvSpPr>
        <p:spPr>
          <a:xfrm>
            <a:off x="365760" y="1828800"/>
            <a:ext cx="1828800" cy="0"/>
          </a:xfrm>
          <a:prstGeom prst="line">
            <a:avLst/>
          </a:prstGeom>
          <a:noFill/>
          <a:ln w="6350">
            <a:solidFill>
              <a:srgbClr val="1A5B62"/>
            </a:solidFill>
            <a:prstDash val="solid"/>
          </a:ln>
        </p:spPr>
      </p:sp>
      <p:sp>
        <p:nvSpPr>
          <p:cNvPr id="14" name="Text 12"/>
          <p:cNvSpPr/>
          <p:nvPr/>
        </p:nvSpPr>
        <p:spPr>
          <a:xfrm>
            <a:off x="365760" y="1901952"/>
            <a:ext cx="1847088" cy="28346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FFFFFF"/>
                </a:solidFill>
              </a:rPr>
              <a:t>Discharge document upload (PDF and photo)</a:t>
            </a:r>
            <a:endParaRPr lang="en-US" sz="950" dirty="0"/>
          </a:p>
          <a:p>
            <a:pPr marL="342900" indent="-342900">
              <a:spcAft>
                <a:spcPts val="500"/>
              </a:spcAft>
              <a:buSzPct val="100000"/>
              <a:buChar char="•"/>
            </a:pPr>
            <a:r>
              <a:rPr lang="en-US" sz="950" dirty="0">
                <a:solidFill>
                  <a:srgbClr val="FFFFFF"/>
                </a:solidFill>
              </a:rPr>
              <a:t>AI-structured extraction with confidence scores</a:t>
            </a:r>
            <a:endParaRPr lang="en-US" sz="950" dirty="0"/>
          </a:p>
          <a:p>
            <a:pPr marL="342900" indent="-342900">
              <a:spcAft>
                <a:spcPts val="500"/>
              </a:spcAft>
              <a:buSzPct val="100000"/>
              <a:buChar char="•"/>
            </a:pPr>
            <a:r>
              <a:rPr lang="en-US" sz="950" dirty="0">
                <a:solidFill>
                  <a:srgbClr val="FFFFFF"/>
                </a:solidFill>
              </a:rPr>
              <a:t>Clinical review queue with e-signature</a:t>
            </a:r>
            <a:endParaRPr lang="en-US" sz="950" dirty="0"/>
          </a:p>
          <a:p>
            <a:pPr marL="342900" indent="-342900">
              <a:spcAft>
                <a:spcPts val="500"/>
              </a:spcAft>
              <a:buSzPct val="100000"/>
              <a:buChar char="•"/>
            </a:pPr>
            <a:r>
              <a:rPr lang="en-US" sz="950" dirty="0">
                <a:solidFill>
                  <a:srgbClr val="FFFFFF"/>
                </a:solidFill>
              </a:rPr>
              <a:t>Low-confidence and conflict flagging</a:t>
            </a:r>
            <a:endParaRPr lang="en-US" sz="950" dirty="0"/>
          </a:p>
          <a:p>
            <a:pPr marL="342900" indent="-342900">
              <a:spcAft>
                <a:spcPts val="500"/>
              </a:spcAft>
              <a:buSzPct val="100000"/>
              <a:buChar char="•"/>
            </a:pPr>
            <a:r>
              <a:rPr lang="en-US" sz="950" dirty="0">
                <a:solidFill>
                  <a:srgbClr val="FFFFFF"/>
                </a:solidFill>
              </a:rPr>
              <a:t>HIPAA audit trail wired in from day one</a:t>
            </a:r>
            <a:endParaRPr lang="en-US" sz="950" dirty="0"/>
          </a:p>
        </p:txBody>
      </p:sp>
      <p:sp>
        <p:nvSpPr>
          <p:cNvPr id="15" name="Shape 13"/>
          <p:cNvSpPr/>
          <p:nvPr/>
        </p:nvSpPr>
        <p:spPr>
          <a:xfrm>
            <a:off x="2450592" y="1261872"/>
            <a:ext cx="2011680" cy="3630168"/>
          </a:xfrm>
          <a:prstGeom prst="rect">
            <a:avLst/>
          </a:prstGeom>
          <a:solidFill>
            <a:srgbClr val="0A3A3E"/>
          </a:solidFill>
          <a:ln w="12700">
            <a:solidFill>
              <a:srgbClr val="1A5B62"/>
            </a:solidFill>
            <a:prstDash val="solid"/>
          </a:ln>
        </p:spPr>
      </p:sp>
      <p:sp>
        <p:nvSpPr>
          <p:cNvPr id="16" name="Shape 14"/>
          <p:cNvSpPr/>
          <p:nvPr/>
        </p:nvSpPr>
        <p:spPr>
          <a:xfrm>
            <a:off x="2450592" y="1261872"/>
            <a:ext cx="2011680" cy="502920"/>
          </a:xfrm>
          <a:prstGeom prst="rect">
            <a:avLst/>
          </a:prstGeom>
          <a:solidFill>
            <a:srgbClr val="C65323"/>
          </a:solidFill>
          <a:ln w="12700">
            <a:solidFill>
              <a:srgbClr val="C65323"/>
            </a:solidFill>
            <a:prstDash val="solid"/>
          </a:ln>
        </p:spPr>
      </p:sp>
      <p:sp>
        <p:nvSpPr>
          <p:cNvPr id="17" name="Text 15"/>
          <p:cNvSpPr/>
          <p:nvPr/>
        </p:nvSpPr>
        <p:spPr>
          <a:xfrm>
            <a:off x="2542032" y="1280160"/>
            <a:ext cx="1280160" cy="274320"/>
          </a:xfrm>
          <a:prstGeom prst="rect">
            <a:avLst/>
          </a:prstGeom>
          <a:noFill/>
          <a:ln/>
        </p:spPr>
        <p:txBody>
          <a:bodyPr wrap="square" lIns="0" tIns="0" rIns="0" bIns="0" rtlCol="0" anchor="ctr"/>
          <a:lstStyle/>
          <a:p>
            <a:pPr indent="0" marL="0">
              <a:buNone/>
            </a:pPr>
            <a:r>
              <a:rPr lang="en-US" sz="1150" b="1" dirty="0">
                <a:solidFill>
                  <a:srgbClr val="FFFFFF"/>
                </a:solidFill>
              </a:rPr>
              <a:t>Phase 2</a:t>
            </a:r>
            <a:endParaRPr lang="en-US" sz="1150" dirty="0"/>
          </a:p>
        </p:txBody>
      </p:sp>
      <p:sp>
        <p:nvSpPr>
          <p:cNvPr id="18" name="Shape 16"/>
          <p:cNvSpPr/>
          <p:nvPr/>
        </p:nvSpPr>
        <p:spPr>
          <a:xfrm>
            <a:off x="3803904" y="1280160"/>
            <a:ext cx="612648" cy="237744"/>
          </a:xfrm>
          <a:prstGeom prst="rect">
            <a:avLst/>
          </a:prstGeom>
          <a:solidFill>
            <a:srgbClr val="052E31"/>
          </a:solidFill>
          <a:ln w="12700">
            <a:solidFill>
              <a:srgbClr val="1A5B62"/>
            </a:solidFill>
            <a:prstDash val="solid"/>
          </a:ln>
        </p:spPr>
      </p:sp>
      <p:sp>
        <p:nvSpPr>
          <p:cNvPr id="19" name="Text 17"/>
          <p:cNvSpPr/>
          <p:nvPr/>
        </p:nvSpPr>
        <p:spPr>
          <a:xfrm>
            <a:off x="3803904" y="1289304"/>
            <a:ext cx="612648" cy="219456"/>
          </a:xfrm>
          <a:prstGeom prst="rect">
            <a:avLst/>
          </a:prstGeom>
          <a:noFill/>
          <a:ln/>
        </p:spPr>
        <p:txBody>
          <a:bodyPr wrap="square" lIns="0" tIns="0" rIns="0" bIns="0" rtlCol="0" anchor="ctr"/>
          <a:lstStyle/>
          <a:p>
            <a:pPr algn="ctr" indent="0" marL="0">
              <a:buNone/>
            </a:pPr>
            <a:r>
              <a:rPr lang="en-US" sz="700" b="1" dirty="0">
                <a:solidFill>
                  <a:srgbClr val="C65323"/>
                </a:solidFill>
              </a:rPr>
              <a:t>MVP CORE</a:t>
            </a:r>
            <a:endParaRPr lang="en-US" sz="700" dirty="0"/>
          </a:p>
        </p:txBody>
      </p:sp>
      <p:sp>
        <p:nvSpPr>
          <p:cNvPr id="20" name="Text 18"/>
          <p:cNvSpPr/>
          <p:nvPr/>
        </p:nvSpPr>
        <p:spPr>
          <a:xfrm>
            <a:off x="2542032" y="1554480"/>
            <a:ext cx="1847088" cy="201168"/>
          </a:xfrm>
          <a:prstGeom prst="rect">
            <a:avLst/>
          </a:prstGeom>
          <a:noFill/>
          <a:ln/>
        </p:spPr>
        <p:txBody>
          <a:bodyPr wrap="square" lIns="0" tIns="0" rIns="0" bIns="0" rtlCol="0" anchor="ctr"/>
          <a:lstStyle/>
          <a:p>
            <a:pPr indent="0" marL="0">
              <a:buNone/>
            </a:pPr>
            <a:r>
              <a:rPr lang="en-US" sz="850" i="1" dirty="0">
                <a:solidFill>
                  <a:srgbClr val="D9EFF0"/>
                </a:solidFill>
              </a:rPr>
              <a:t>Month 2 – 3</a:t>
            </a:r>
            <a:endParaRPr lang="en-US" sz="850" dirty="0"/>
          </a:p>
        </p:txBody>
      </p:sp>
      <p:sp>
        <p:nvSpPr>
          <p:cNvPr id="21" name="Shape 19"/>
          <p:cNvSpPr/>
          <p:nvPr/>
        </p:nvSpPr>
        <p:spPr>
          <a:xfrm>
            <a:off x="2542032" y="1828800"/>
            <a:ext cx="1828800" cy="0"/>
          </a:xfrm>
          <a:prstGeom prst="line">
            <a:avLst/>
          </a:prstGeom>
          <a:noFill/>
          <a:ln w="6350">
            <a:solidFill>
              <a:srgbClr val="1A5B62"/>
            </a:solidFill>
            <a:prstDash val="solid"/>
          </a:ln>
        </p:spPr>
      </p:sp>
      <p:sp>
        <p:nvSpPr>
          <p:cNvPr id="22" name="Text 20"/>
          <p:cNvSpPr/>
          <p:nvPr/>
        </p:nvSpPr>
        <p:spPr>
          <a:xfrm>
            <a:off x="2542032" y="1901952"/>
            <a:ext cx="1847088" cy="28346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FFFFFF"/>
                </a:solidFill>
              </a:rPr>
              <a:t>Medication and appointment reminders</a:t>
            </a:r>
            <a:endParaRPr lang="en-US" sz="950" dirty="0"/>
          </a:p>
          <a:p>
            <a:pPr marL="342900" indent="-342900">
              <a:spcAft>
                <a:spcPts val="500"/>
              </a:spcAft>
              <a:buSzPct val="100000"/>
              <a:buChar char="•"/>
            </a:pPr>
            <a:r>
              <a:rPr lang="en-US" sz="950" dirty="0">
                <a:solidFill>
                  <a:srgbClr val="FFFFFF"/>
                </a:solidFill>
              </a:rPr>
              <a:t>SMS plus app dual-channel delivery</a:t>
            </a:r>
            <a:endParaRPr lang="en-US" sz="950" dirty="0"/>
          </a:p>
          <a:p>
            <a:pPr marL="342900" indent="-342900">
              <a:spcAft>
                <a:spcPts val="500"/>
              </a:spcAft>
              <a:buSzPct val="100000"/>
              <a:buChar char="•"/>
            </a:pPr>
            <a:r>
              <a:rPr lang="en-US" sz="950" dirty="0">
                <a:solidFill>
                  <a:srgbClr val="FFFFFF"/>
                </a:solidFill>
              </a:rPr>
              <a:t>Patient acknowledgement tracking</a:t>
            </a:r>
            <a:endParaRPr lang="en-US" sz="950" dirty="0"/>
          </a:p>
          <a:p>
            <a:pPr marL="342900" indent="-342900">
              <a:spcAft>
                <a:spcPts val="500"/>
              </a:spcAft>
              <a:buSzPct val="100000"/>
              <a:buChar char="•"/>
            </a:pPr>
            <a:r>
              <a:rPr lang="en-US" sz="950" dirty="0">
                <a:solidFill>
                  <a:srgbClr val="FFFFFF"/>
                </a:solidFill>
              </a:rPr>
              <a:t>Daily symptom check-in prompts</a:t>
            </a:r>
            <a:endParaRPr lang="en-US" sz="950" dirty="0"/>
          </a:p>
          <a:p>
            <a:pPr marL="342900" indent="-342900">
              <a:spcAft>
                <a:spcPts val="500"/>
              </a:spcAft>
              <a:buSzPct val="100000"/>
              <a:buChar char="•"/>
            </a:pPr>
            <a:r>
              <a:rPr lang="en-US" sz="950" dirty="0">
                <a:solidFill>
                  <a:srgbClr val="FFFFFF"/>
                </a:solidFill>
              </a:rPr>
              <a:t>Prescription refill trigger alerts</a:t>
            </a:r>
            <a:endParaRPr lang="en-US" sz="950" dirty="0"/>
          </a:p>
        </p:txBody>
      </p:sp>
      <p:sp>
        <p:nvSpPr>
          <p:cNvPr id="23" name="Shape 21"/>
          <p:cNvSpPr/>
          <p:nvPr/>
        </p:nvSpPr>
        <p:spPr>
          <a:xfrm>
            <a:off x="4626864" y="1261872"/>
            <a:ext cx="2011680" cy="3630168"/>
          </a:xfrm>
          <a:prstGeom prst="rect">
            <a:avLst/>
          </a:prstGeom>
          <a:solidFill>
            <a:srgbClr val="0A3A3E"/>
          </a:solidFill>
          <a:ln w="12700">
            <a:solidFill>
              <a:srgbClr val="1A5B62"/>
            </a:solidFill>
            <a:prstDash val="solid"/>
          </a:ln>
        </p:spPr>
      </p:sp>
      <p:sp>
        <p:nvSpPr>
          <p:cNvPr id="24" name="Shape 22"/>
          <p:cNvSpPr/>
          <p:nvPr/>
        </p:nvSpPr>
        <p:spPr>
          <a:xfrm>
            <a:off x="4626864" y="1261872"/>
            <a:ext cx="2011680" cy="502920"/>
          </a:xfrm>
          <a:prstGeom prst="rect">
            <a:avLst/>
          </a:prstGeom>
          <a:solidFill>
            <a:srgbClr val="24734F"/>
          </a:solidFill>
          <a:ln w="12700">
            <a:solidFill>
              <a:srgbClr val="24734F"/>
            </a:solidFill>
            <a:prstDash val="solid"/>
          </a:ln>
        </p:spPr>
      </p:sp>
      <p:sp>
        <p:nvSpPr>
          <p:cNvPr id="25" name="Text 23"/>
          <p:cNvSpPr/>
          <p:nvPr/>
        </p:nvSpPr>
        <p:spPr>
          <a:xfrm>
            <a:off x="4718304" y="1280160"/>
            <a:ext cx="1280160" cy="274320"/>
          </a:xfrm>
          <a:prstGeom prst="rect">
            <a:avLst/>
          </a:prstGeom>
          <a:noFill/>
          <a:ln/>
        </p:spPr>
        <p:txBody>
          <a:bodyPr wrap="square" lIns="0" tIns="0" rIns="0" bIns="0" rtlCol="0" anchor="ctr"/>
          <a:lstStyle/>
          <a:p>
            <a:pPr indent="0" marL="0">
              <a:buNone/>
            </a:pPr>
            <a:r>
              <a:rPr lang="en-US" sz="1150" b="1" dirty="0">
                <a:solidFill>
                  <a:srgbClr val="FFFFFF"/>
                </a:solidFill>
              </a:rPr>
              <a:t>Phase 3</a:t>
            </a:r>
            <a:endParaRPr lang="en-US" sz="1150" dirty="0"/>
          </a:p>
        </p:txBody>
      </p:sp>
      <p:sp>
        <p:nvSpPr>
          <p:cNvPr id="26" name="Shape 24"/>
          <p:cNvSpPr/>
          <p:nvPr/>
        </p:nvSpPr>
        <p:spPr>
          <a:xfrm>
            <a:off x="5980176" y="1280160"/>
            <a:ext cx="612648" cy="237744"/>
          </a:xfrm>
          <a:prstGeom prst="rect">
            <a:avLst/>
          </a:prstGeom>
          <a:solidFill>
            <a:srgbClr val="052E31"/>
          </a:solidFill>
          <a:ln w="12700">
            <a:solidFill>
              <a:srgbClr val="1A5B62"/>
            </a:solidFill>
            <a:prstDash val="solid"/>
          </a:ln>
        </p:spPr>
      </p:sp>
      <p:sp>
        <p:nvSpPr>
          <p:cNvPr id="27" name="Text 25"/>
          <p:cNvSpPr/>
          <p:nvPr/>
        </p:nvSpPr>
        <p:spPr>
          <a:xfrm>
            <a:off x="5980176" y="1289304"/>
            <a:ext cx="612648" cy="219456"/>
          </a:xfrm>
          <a:prstGeom prst="rect">
            <a:avLst/>
          </a:prstGeom>
          <a:noFill/>
          <a:ln/>
        </p:spPr>
        <p:txBody>
          <a:bodyPr wrap="square" lIns="0" tIns="0" rIns="0" bIns="0" rtlCol="0" anchor="ctr"/>
          <a:lstStyle/>
          <a:p>
            <a:pPr algn="ctr" indent="0" marL="0">
              <a:buNone/>
            </a:pPr>
            <a:r>
              <a:rPr lang="en-US" sz="700" b="1" dirty="0">
                <a:solidFill>
                  <a:srgbClr val="C65323"/>
                </a:solidFill>
              </a:rPr>
              <a:t>MVP CORE</a:t>
            </a:r>
            <a:endParaRPr lang="en-US" sz="700" dirty="0"/>
          </a:p>
        </p:txBody>
      </p:sp>
      <p:sp>
        <p:nvSpPr>
          <p:cNvPr id="28" name="Text 26"/>
          <p:cNvSpPr/>
          <p:nvPr/>
        </p:nvSpPr>
        <p:spPr>
          <a:xfrm>
            <a:off x="4718304" y="1554480"/>
            <a:ext cx="1847088" cy="201168"/>
          </a:xfrm>
          <a:prstGeom prst="rect">
            <a:avLst/>
          </a:prstGeom>
          <a:noFill/>
          <a:ln/>
        </p:spPr>
        <p:txBody>
          <a:bodyPr wrap="square" lIns="0" tIns="0" rIns="0" bIns="0" rtlCol="0" anchor="ctr"/>
          <a:lstStyle/>
          <a:p>
            <a:pPr indent="0" marL="0">
              <a:buNone/>
            </a:pPr>
            <a:r>
              <a:rPr lang="en-US" sz="850" i="1" dirty="0">
                <a:solidFill>
                  <a:srgbClr val="D9EFF0"/>
                </a:solidFill>
              </a:rPr>
              <a:t>Month 3 – 4</a:t>
            </a:r>
            <a:endParaRPr lang="en-US" sz="850" dirty="0"/>
          </a:p>
        </p:txBody>
      </p:sp>
      <p:sp>
        <p:nvSpPr>
          <p:cNvPr id="29" name="Shape 27"/>
          <p:cNvSpPr/>
          <p:nvPr/>
        </p:nvSpPr>
        <p:spPr>
          <a:xfrm>
            <a:off x="4718304" y="1828800"/>
            <a:ext cx="1828800" cy="0"/>
          </a:xfrm>
          <a:prstGeom prst="line">
            <a:avLst/>
          </a:prstGeom>
          <a:noFill/>
          <a:ln w="6350">
            <a:solidFill>
              <a:srgbClr val="1A5B62"/>
            </a:solidFill>
            <a:prstDash val="solid"/>
          </a:ln>
        </p:spPr>
      </p:sp>
      <p:sp>
        <p:nvSpPr>
          <p:cNvPr id="30" name="Text 28"/>
          <p:cNvSpPr/>
          <p:nvPr/>
        </p:nvSpPr>
        <p:spPr>
          <a:xfrm>
            <a:off x="4718304" y="1901952"/>
            <a:ext cx="1847088" cy="28346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FFFFFF"/>
                </a:solidFill>
              </a:rPr>
              <a:t>Missed-task escalation to coordinator</a:t>
            </a:r>
            <a:endParaRPr lang="en-US" sz="950" dirty="0"/>
          </a:p>
          <a:p>
            <a:pPr marL="342900" indent="-342900">
              <a:spcAft>
                <a:spcPts val="500"/>
              </a:spcAft>
              <a:buSzPct val="100000"/>
              <a:buChar char="•"/>
            </a:pPr>
            <a:r>
              <a:rPr lang="en-US" sz="950" dirty="0">
                <a:solidFill>
                  <a:srgbClr val="FFFFFF"/>
                </a:solidFill>
              </a:rPr>
              <a:t>Care coordinator live dashboard</a:t>
            </a:r>
            <a:endParaRPr lang="en-US" sz="950" dirty="0"/>
          </a:p>
          <a:p>
            <a:pPr marL="342900" indent="-342900">
              <a:spcAft>
                <a:spcPts val="500"/>
              </a:spcAft>
              <a:buSzPct val="100000"/>
              <a:buChar char="•"/>
            </a:pPr>
            <a:r>
              <a:rPr lang="en-US" sz="950" dirty="0">
                <a:solidFill>
                  <a:srgbClr val="FFFFFF"/>
                </a:solidFill>
              </a:rPr>
              <a:t>Family member notification and proxy access</a:t>
            </a:r>
            <a:endParaRPr lang="en-US" sz="950" dirty="0"/>
          </a:p>
          <a:p>
            <a:pPr marL="342900" indent="-342900">
              <a:spcAft>
                <a:spcPts val="500"/>
              </a:spcAft>
              <a:buSzPct val="100000"/>
              <a:buChar char="•"/>
            </a:pPr>
            <a:r>
              <a:rPr lang="en-US" sz="950" dirty="0">
                <a:solidFill>
                  <a:srgbClr val="FFFFFF"/>
                </a:solidFill>
              </a:rPr>
              <a:t>In-home caregiver VisitNote integration</a:t>
            </a:r>
            <a:endParaRPr lang="en-US" sz="950" dirty="0"/>
          </a:p>
          <a:p>
            <a:pPr marL="342900" indent="-342900">
              <a:spcAft>
                <a:spcPts val="500"/>
              </a:spcAft>
              <a:buSzPct val="100000"/>
              <a:buChar char="•"/>
            </a:pPr>
            <a:r>
              <a:rPr lang="en-US" sz="950" dirty="0">
                <a:solidFill>
                  <a:srgbClr val="FFFFFF"/>
                </a:solidFill>
              </a:rPr>
              <a:t>Warning symptom escalation rules</a:t>
            </a:r>
            <a:endParaRPr lang="en-US" sz="950" dirty="0"/>
          </a:p>
        </p:txBody>
      </p:sp>
      <p:sp>
        <p:nvSpPr>
          <p:cNvPr id="31" name="Shape 29"/>
          <p:cNvSpPr/>
          <p:nvPr/>
        </p:nvSpPr>
        <p:spPr>
          <a:xfrm>
            <a:off x="6803136" y="1261872"/>
            <a:ext cx="2011680" cy="3630168"/>
          </a:xfrm>
          <a:prstGeom prst="rect">
            <a:avLst/>
          </a:prstGeom>
          <a:solidFill>
            <a:srgbClr val="0A3A3E"/>
          </a:solidFill>
          <a:ln w="12700">
            <a:solidFill>
              <a:srgbClr val="1A5B62"/>
            </a:solidFill>
            <a:prstDash val="solid"/>
          </a:ln>
        </p:spPr>
      </p:sp>
      <p:sp>
        <p:nvSpPr>
          <p:cNvPr id="32" name="Shape 30"/>
          <p:cNvSpPr/>
          <p:nvPr/>
        </p:nvSpPr>
        <p:spPr>
          <a:xfrm>
            <a:off x="6803136" y="1261872"/>
            <a:ext cx="2011680" cy="502920"/>
          </a:xfrm>
          <a:prstGeom prst="rect">
            <a:avLst/>
          </a:prstGeom>
          <a:solidFill>
            <a:srgbClr val="8A6100"/>
          </a:solidFill>
          <a:ln w="12700">
            <a:solidFill>
              <a:srgbClr val="8A6100"/>
            </a:solidFill>
            <a:prstDash val="solid"/>
          </a:ln>
        </p:spPr>
      </p:sp>
      <p:sp>
        <p:nvSpPr>
          <p:cNvPr id="33" name="Text 31"/>
          <p:cNvSpPr/>
          <p:nvPr/>
        </p:nvSpPr>
        <p:spPr>
          <a:xfrm>
            <a:off x="6894576" y="1280160"/>
            <a:ext cx="1280160" cy="274320"/>
          </a:xfrm>
          <a:prstGeom prst="rect">
            <a:avLst/>
          </a:prstGeom>
          <a:noFill/>
          <a:ln/>
        </p:spPr>
        <p:txBody>
          <a:bodyPr wrap="square" lIns="0" tIns="0" rIns="0" bIns="0" rtlCol="0" anchor="ctr"/>
          <a:lstStyle/>
          <a:p>
            <a:pPr indent="0" marL="0">
              <a:buNone/>
            </a:pPr>
            <a:r>
              <a:rPr lang="en-US" sz="1150" b="1" dirty="0">
                <a:solidFill>
                  <a:srgbClr val="FFFFFF"/>
                </a:solidFill>
              </a:rPr>
              <a:t>Phase 4</a:t>
            </a:r>
            <a:endParaRPr lang="en-US" sz="1150" dirty="0"/>
          </a:p>
        </p:txBody>
      </p:sp>
      <p:sp>
        <p:nvSpPr>
          <p:cNvPr id="34" name="Shape 32"/>
          <p:cNvSpPr/>
          <p:nvPr/>
        </p:nvSpPr>
        <p:spPr>
          <a:xfrm>
            <a:off x="8156448" y="1280160"/>
            <a:ext cx="612648" cy="237744"/>
          </a:xfrm>
          <a:prstGeom prst="rect">
            <a:avLst/>
          </a:prstGeom>
          <a:solidFill>
            <a:srgbClr val="052E31"/>
          </a:solidFill>
          <a:ln w="12700">
            <a:solidFill>
              <a:srgbClr val="1A5B62"/>
            </a:solidFill>
            <a:prstDash val="solid"/>
          </a:ln>
        </p:spPr>
      </p:sp>
      <p:sp>
        <p:nvSpPr>
          <p:cNvPr id="35" name="Text 33"/>
          <p:cNvSpPr/>
          <p:nvPr/>
        </p:nvSpPr>
        <p:spPr>
          <a:xfrm>
            <a:off x="8156448" y="1289304"/>
            <a:ext cx="612648" cy="219456"/>
          </a:xfrm>
          <a:prstGeom prst="rect">
            <a:avLst/>
          </a:prstGeom>
          <a:noFill/>
          <a:ln/>
        </p:spPr>
        <p:txBody>
          <a:bodyPr wrap="square" lIns="0" tIns="0" rIns="0" bIns="0" rtlCol="0" anchor="ctr"/>
          <a:lstStyle/>
          <a:p>
            <a:pPr algn="ctr" indent="0" marL="0">
              <a:buNone/>
            </a:pPr>
            <a:r>
              <a:rPr lang="en-US" sz="700" b="1" dirty="0">
                <a:solidFill>
                  <a:srgbClr val="D9EFF0"/>
                </a:solidFill>
              </a:rPr>
              <a:t>NEXT</a:t>
            </a:r>
            <a:endParaRPr lang="en-US" sz="700" dirty="0"/>
          </a:p>
        </p:txBody>
      </p:sp>
      <p:sp>
        <p:nvSpPr>
          <p:cNvPr id="36" name="Text 34"/>
          <p:cNvSpPr/>
          <p:nvPr/>
        </p:nvSpPr>
        <p:spPr>
          <a:xfrm>
            <a:off x="6894576" y="1554480"/>
            <a:ext cx="1847088" cy="201168"/>
          </a:xfrm>
          <a:prstGeom prst="rect">
            <a:avLst/>
          </a:prstGeom>
          <a:noFill/>
          <a:ln/>
        </p:spPr>
        <p:txBody>
          <a:bodyPr wrap="square" lIns="0" tIns="0" rIns="0" bIns="0" rtlCol="0" anchor="ctr"/>
          <a:lstStyle/>
          <a:p>
            <a:pPr indent="0" marL="0">
              <a:buNone/>
            </a:pPr>
            <a:r>
              <a:rPr lang="en-US" sz="850" i="1" dirty="0">
                <a:solidFill>
                  <a:srgbClr val="D9EFF0"/>
                </a:solidFill>
              </a:rPr>
              <a:t>Month 4 – 6</a:t>
            </a:r>
            <a:endParaRPr lang="en-US" sz="850" dirty="0"/>
          </a:p>
        </p:txBody>
      </p:sp>
      <p:sp>
        <p:nvSpPr>
          <p:cNvPr id="37" name="Shape 35"/>
          <p:cNvSpPr/>
          <p:nvPr/>
        </p:nvSpPr>
        <p:spPr>
          <a:xfrm>
            <a:off x="6894576" y="1828800"/>
            <a:ext cx="1828800" cy="0"/>
          </a:xfrm>
          <a:prstGeom prst="line">
            <a:avLst/>
          </a:prstGeom>
          <a:noFill/>
          <a:ln w="6350">
            <a:solidFill>
              <a:srgbClr val="1A5B62"/>
            </a:solidFill>
            <a:prstDash val="solid"/>
          </a:ln>
        </p:spPr>
      </p:sp>
      <p:sp>
        <p:nvSpPr>
          <p:cNvPr id="38" name="Text 36"/>
          <p:cNvSpPr/>
          <p:nvPr/>
        </p:nvSpPr>
        <p:spPr>
          <a:xfrm>
            <a:off x="6894576" y="1901952"/>
            <a:ext cx="1847088" cy="283464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FFFFFF"/>
                </a:solidFill>
              </a:rPr>
              <a:t>FHIR hospital system import</a:t>
            </a:r>
            <a:endParaRPr lang="en-US" sz="950" dirty="0"/>
          </a:p>
          <a:p>
            <a:pPr marL="342900" indent="-342900">
              <a:spcAft>
                <a:spcPts val="500"/>
              </a:spcAft>
              <a:buSzPct val="100000"/>
              <a:buChar char="•"/>
            </a:pPr>
            <a:r>
              <a:rPr lang="en-US" sz="950" dirty="0">
                <a:solidFill>
                  <a:srgbClr val="FFFFFF"/>
                </a:solidFill>
              </a:rPr>
              <a:t>Outcome reporting for hospital contracts</a:t>
            </a:r>
            <a:endParaRPr lang="en-US" sz="950" dirty="0"/>
          </a:p>
          <a:p>
            <a:pPr marL="342900" indent="-342900">
              <a:spcAft>
                <a:spcPts val="500"/>
              </a:spcAft>
              <a:buSzPct val="100000"/>
              <a:buChar char="•"/>
            </a:pPr>
            <a:r>
              <a:rPr lang="en-US" sz="950" dirty="0">
                <a:solidFill>
                  <a:srgbClr val="FFFFFF"/>
                </a:solidFill>
              </a:rPr>
              <a:t>B2B hospital sales and HRRP positioning</a:t>
            </a:r>
            <a:endParaRPr lang="en-US" sz="950" dirty="0"/>
          </a:p>
          <a:p>
            <a:pPr marL="342900" indent="-342900">
              <a:spcAft>
                <a:spcPts val="500"/>
              </a:spcAft>
              <a:buSzPct val="100000"/>
              <a:buChar char="•"/>
            </a:pPr>
            <a:r>
              <a:rPr lang="en-US" sz="950" dirty="0">
                <a:solidFill>
                  <a:srgbClr val="FFFFFF"/>
                </a:solidFill>
              </a:rPr>
              <a:t>Multilingual patient-friendly summaries</a:t>
            </a:r>
            <a:endParaRPr lang="en-US" sz="950" dirty="0"/>
          </a:p>
          <a:p>
            <a:pPr marL="342900" indent="-342900">
              <a:spcAft>
                <a:spcPts val="500"/>
              </a:spcAft>
              <a:buSzPct val="100000"/>
              <a:buChar char="•"/>
            </a:pPr>
            <a:r>
              <a:rPr lang="en-US" sz="950" dirty="0">
                <a:solidFill>
                  <a:srgbClr val="FFFFFF"/>
                </a:solidFill>
              </a:rPr>
              <a:t>Payer and HSCRC partnerships (Maryland)</a:t>
            </a:r>
            <a:endParaRPr lang="en-US" sz="950" dirty="0"/>
          </a:p>
        </p:txBody>
      </p:sp>
      <p:sp>
        <p:nvSpPr>
          <p:cNvPr id="39" name="Shape 37"/>
          <p:cNvSpPr/>
          <p:nvPr/>
        </p:nvSpPr>
        <p:spPr>
          <a:xfrm>
            <a:off x="0" y="4663440"/>
            <a:ext cx="9144000" cy="480060"/>
          </a:xfrm>
          <a:prstGeom prst="rect">
            <a:avLst/>
          </a:prstGeom>
          <a:solidFill>
            <a:srgbClr val="052E31"/>
          </a:solidFill>
          <a:ln w="12700">
            <a:solidFill>
              <a:srgbClr val="052E31"/>
            </a:solidFill>
            <a:prstDash val="solid"/>
          </a:ln>
        </p:spPr>
      </p:sp>
      <p:sp>
        <p:nvSpPr>
          <p:cNvPr id="40" name="Text 38"/>
          <p:cNvSpPr/>
          <p:nvPr/>
        </p:nvSpPr>
        <p:spPr>
          <a:xfrm>
            <a:off x="457200" y="4709160"/>
            <a:ext cx="8229600" cy="347472"/>
          </a:xfrm>
          <a:prstGeom prst="rect">
            <a:avLst/>
          </a:prstGeom>
          <a:noFill/>
          <a:ln/>
        </p:spPr>
        <p:txBody>
          <a:bodyPr wrap="square" lIns="0" tIns="0" rIns="0" bIns="0" rtlCol="0" anchor="ctr"/>
          <a:lstStyle/>
          <a:p>
            <a:pPr indent="0" marL="0">
              <a:buNone/>
            </a:pPr>
            <a:r>
              <a:rPr lang="en-US" sz="900" dirty="0">
                <a:solidFill>
                  <a:srgbClr val="7AADAB"/>
                </a:solidFill>
              </a:rPr>
              <a:t>CarePath Health  ·  CarePath Transitions  ·  Confidential  ·  June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2026-06-22T19:04:25Z</dcterms:created>
  <dcterms:modified xsi:type="dcterms:W3CDTF">2026-06-22T19:04:25Z</dcterms:modified>
</cp:coreProperties>
</file>