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2a17226b0441f" /><Relationship Type="http://schemas.openxmlformats.org/officeDocument/2006/relationships/extended-properties" Target="/docProps/app.xml" Id="R425e71b896ac4105" /><Relationship Type="http://schemas.openxmlformats.org/officeDocument/2006/relationships/officeDocument" Target="/ppt/presentation.xml" Id="R188246ec6edf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a3bca7ae84ab5"/>
  </p:sldMasterIdLst>
  <p:notesMasterIdLst>
    <p:notesMasterId xmlns:r="http://schemas.openxmlformats.org/officeDocument/2006/relationships" r:id="R697de39dd49648fd"/>
  </p:notesMasterIdLst>
  <p:sldIdLst>
    <p:sldId xmlns:r="http://schemas.openxmlformats.org/officeDocument/2006/relationships" id="256" r:id="R0fb0707a63094d72"/>
    <p:sldId xmlns:r="http://schemas.openxmlformats.org/officeDocument/2006/relationships" id="257" r:id="Re734a63e32014cfb"/>
    <p:sldId xmlns:r="http://schemas.openxmlformats.org/officeDocument/2006/relationships" id="258" r:id="R32a93d7dc26d42ef"/>
    <p:sldId xmlns:r="http://schemas.openxmlformats.org/officeDocument/2006/relationships" id="259" r:id="R14d3c7db484f42e7"/>
    <p:sldId xmlns:r="http://schemas.openxmlformats.org/officeDocument/2006/relationships" id="260" r:id="Rd8d7dc6a5a9c454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5f0e747144d18" /><Relationship Type="http://schemas.openxmlformats.org/officeDocument/2006/relationships/slideMaster" Target="/ppt/slideMasters/slideMaster1.xml" Id="R228a3bca7ae84ab5" /><Relationship Type="http://schemas.openxmlformats.org/officeDocument/2006/relationships/notesMaster" Target="/ppt/notesMasters/notesMaster1.xml" Id="R697de39dd49648fd" /><Relationship Type="http://schemas.openxmlformats.org/officeDocument/2006/relationships/presProps" Target="/ppt/presProps.xml" Id="Rb9dbf5757da243e2" /><Relationship Type="http://schemas.openxmlformats.org/officeDocument/2006/relationships/tableStyles" Target="/ppt/tableStyles.xml" Id="R54bf7ec201144f48" /><Relationship Type="http://schemas.openxmlformats.org/officeDocument/2006/relationships/slide" Target="/ppt/slides/slide1.xml" Id="R0fb0707a63094d72" /><Relationship Type="http://schemas.openxmlformats.org/officeDocument/2006/relationships/slide" Target="/ppt/slides/slide2.xml" Id="Re734a63e32014cfb" /><Relationship Type="http://schemas.openxmlformats.org/officeDocument/2006/relationships/slide" Target="/ppt/slides/slide3.xml" Id="R32a93d7dc26d42ef" /><Relationship Type="http://schemas.openxmlformats.org/officeDocument/2006/relationships/slide" Target="/ppt/slides/slide4.xml" Id="R14d3c7db484f42e7" /><Relationship Type="http://schemas.openxmlformats.org/officeDocument/2006/relationships/slide" Target="/ppt/slides/slide5.xml" Id="Rd8d7dc6a5a9c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f97acbbbf449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ee161b971545fa" /><Relationship Type="http://schemas.openxmlformats.org/officeDocument/2006/relationships/notesMaster" Target="/ppt/notesMasters/notesMaster1.xml" Id="R196d767513cd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1f085f64e34a83" /><Relationship Type="http://schemas.openxmlformats.org/officeDocument/2006/relationships/notesMaster" Target="/ppt/notesMasters/notesMaster1.xml" Id="Rae7c67a98ef3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92c4561684428f" /><Relationship Type="http://schemas.openxmlformats.org/officeDocument/2006/relationships/notesMaster" Target="/ppt/notesMasters/notesMaster1.xml" Id="R6f3b1d4c8d1148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9947b0aa44618" /><Relationship Type="http://schemas.openxmlformats.org/officeDocument/2006/relationships/notesMaster" Target="/ppt/notesMasters/notesMaster1.xml" Id="Raa13681d24d244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555df2241246ac" /><Relationship Type="http://schemas.openxmlformats.org/officeDocument/2006/relationships/notesMaster" Target="/ppt/notesMasters/notesMaster1.xml" Id="R7db142d02bfa4f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afc140df54e8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fda401b414402" /><Relationship Type="http://schemas.openxmlformats.org/officeDocument/2006/relationships/slideLayout" Target="/ppt/slideLayouts/slideLayout1.xml" Id="R0e4dacc532e24fa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4dacc532e24fa2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7eec48d0449ea" /><Relationship Type="http://schemas.openxmlformats.org/officeDocument/2006/relationships/notesSlide" Target="/ppt/notesSlides/notesSlide1.xml" Id="R4de706bb5cd747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983995cac4260" /><Relationship Type="http://schemas.openxmlformats.org/officeDocument/2006/relationships/notesSlide" Target="/ppt/notesSlides/notesSlide2.xml" Id="R0068111e1774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74d229d29416f" /><Relationship Type="http://schemas.openxmlformats.org/officeDocument/2006/relationships/notesSlide" Target="/ppt/notesSlides/notesSlide3.xml" Id="Radecbdc92b1645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c59a17a6f4ba8" /><Relationship Type="http://schemas.openxmlformats.org/officeDocument/2006/relationships/notesSlide" Target="/ppt/notesSlides/notesSlide4.xml" Id="R265b49c3a772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8066ddb5641ca" /><Relationship Type="http://schemas.openxmlformats.org/officeDocument/2006/relationships/notesSlide" Target="/ppt/notesSlides/notesSlide5.xml" Id="R4d5732d0ca4041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9DED1E-EEC5-4830-83BE-C704900F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E580F0E-B3EC-474E-A3BC-DBAD5BA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-1097280"/>
            <a:ext cx="3200400" cy="320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>
              <a:alpha val="15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6281E7-EE33-4E9D-80C6-AE4CBF21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972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FEATURE CONCEPT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48EFCD-28AC-4730-9FA6-F68D8124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7315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CarePath Transitions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C3BBDF-C9FE-4D6F-89F1-5A5AAB24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5176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30-Day Post-Discharge Support</a:t>
            </a:r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From hospital instructions to daily recovery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22A45DA-74C7-4759-82A4-C8532D0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28090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5103569-05DE-4F86-A0AA-F1623201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June 2026  |  Recommended Solution &amp; MVP</a:t>
            </a:r>
          </a:p>
        </p:txBody>
      </p:sp>
    </p:spTree>
    <p:extLst>
      <p:ext uri="{BB962C8B-B14F-4D97-AF65-F5344CB8AC3E}">
        <p14:creationId xmlns:p14="http://schemas.microsoft.com/office/powerpoint/2010/main" val="685100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4071881-3408-49C0-8061-960A171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A81C5C-C4C2-48E8-85FB-831446B2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A2540"/>
                </a:solidFill>
                <a:latin typeface="Georgia"/>
                <a:ea typeface="Georgia"/>
                <a:cs typeface="Georgia"/>
              </a:rPr>
              <a:t>The 30-Day Care Gap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653E92-4DF4-4C2D-8491-41CA6DF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Instructions Given Once  |  Recovery Happens at Home  |  Risk Compounds Quickly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E05109-75B0-4D16-B9D3-03EEB534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6517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7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8E780AC-6FE4-41D8-8DCC-77E60456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246F04-84A2-4178-95F7-4523DFFC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A2540"/>
                </a:solidFill>
                <a:latin typeface="Calibri"/>
                <a:ea typeface="Calibri"/>
                <a:cs typeface="Calibri"/>
              </a:rPr>
              <a:t>Discharge Complexity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24C210-E3C6-4025-B465-B916EB5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2286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Medication changes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Follow-up appointments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Diet &amp; activity rules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Warning signs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CBADB7F-FC5A-4F38-8CF8-7EBE3941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280160"/>
            <a:ext cx="26517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7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E006DFD-85E1-455F-A3EE-DD196BA3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2801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6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B556BE5-0C9E-48DD-9637-C540C07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63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A2540"/>
                </a:solidFill>
                <a:latin typeface="Calibri"/>
                <a:ea typeface="Calibri"/>
                <a:cs typeface="Calibri"/>
              </a:rPr>
              <a:t>Patient Barriers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87FB549-F6F6-4BB5-8BA5-8E715A75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874520"/>
            <a:ext cx="2286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Confusing instructions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Medication access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Language &amp; literacy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Limited home support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0BEF119-D04B-4A74-BB50-C78AF0FC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265176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7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9009F01-CCBB-4508-BCE2-1A1AE9E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265176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E37B2E5-BFAB-46A6-9DDE-6B74700F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30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A2540"/>
                </a:solidFill>
                <a:latin typeface="Calibri"/>
                <a:ea typeface="Calibri"/>
                <a:cs typeface="Calibri"/>
              </a:rPr>
              <a:t>Hospital Impact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9A604E8-B8A7-4902-ADA2-2E14BFE2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74520"/>
            <a:ext cx="2286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Avoidable readmissions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Fragmented follow-up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Limited home visibility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Higher care costs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A67F668-594D-4DD0-9CB3-38D0502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804672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1FD6471-8152-45AE-9EF3-CCED9B0C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86200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Key Product Insight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05D84C9-DD1E-4963-84E8-B01913AC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The document is only the starting point  |  Patients need an active recovery plan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F1FC81C-175A-4500-BC8A-2CC551AE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Success requires coordination  |  Patient + family + clinician + CarePath team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3F1677C-9E2B-41F8-985A-6737DD2A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Safety rule:  AI structures the plan  |  A clinician verifies before activation</a:t>
            </a:r>
          </a:p>
        </p:txBody>
      </p:sp>
    </p:spTree>
    <p:extLst>
      <p:ext uri="{BB962C8B-B14F-4D97-AF65-F5344CB8AC3E}">
        <p14:creationId xmlns:p14="http://schemas.microsoft.com/office/powerpoint/2010/main" val="630914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8D5939-F056-4666-A668-2C89C2F7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0404C8-AB00-4533-A05F-90DEB1F7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A2540"/>
                </a:solidFill>
                <a:latin typeface="Georgia"/>
                <a:ea typeface="Georgia"/>
                <a:cs typeface="Georgia"/>
              </a:rPr>
              <a:t>The CarePath Bridge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395E0B-709F-4D35-A4C7-D428C9DB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Hospital Discharge  →  Verified Plan  →  Daily Support  →  Care-Team Escalation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C5A82C7-980C-4EF3-A22D-46C2C2F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FAE53FF-2BF5-4441-9A3E-08AC4B10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640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52225CB-4FC3-4447-A97D-DF1D5D53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9903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Hospital Discharge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1FF2DD-62D0-4CE5-A202-5BF65F0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TransitionPlan intake from notes / FHIR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C3009CA-7477-49B3-BA33-70C98E8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27048"/>
            <a:ext cx="914400" cy="292608"/>
          </a:xfrm>
          <a:prstGeom xmlns:a="http://schemas.openxmlformats.org/drawingml/2006/main" prst="rect">
            <a:avLst>
              <a:gd name="adj" fmla="val 12500"/>
            </a:avLst>
          </a:prstGeom>
          <a:solidFill xmlns:a="http://schemas.openxmlformats.org/drawingml/2006/main">
            <a:srgbClr val="10B98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1BBC57-9EB7-4955-8B46-653DD09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527048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40636FB-63EE-43C7-A701-FD5AC2B5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A85F41C-6554-4F59-9FB7-4409E54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640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FD0FBE-E4E0-48AD-AD10-A9A0EA69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CarePath Verification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CAE3A9-1BEF-45E3-87B0-57D3AF02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Client + CarePlan + medication review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D6125B4-4EE8-4BBE-853D-3FCDEFF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395728"/>
            <a:ext cx="914400" cy="292608"/>
          </a:xfrm>
          <a:prstGeom xmlns:a="http://schemas.openxmlformats.org/drawingml/2006/main" prst="rect">
            <a:avLst>
              <a:gd name="adj" fmla="val 125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49A8846-0F91-41F3-BBBC-0C9D297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395728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86FECF9-FB13-479A-B431-258B64C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86BBC98-B5AB-4B30-B75F-B14C631B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0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CF9381-4B0F-46B4-8991-81B2FA4A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3639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Daily Recovery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86D9D3E-ADA2-4B50-9B48-ACA5720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2900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MAUI reminders + VisitNote check-ins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6B8BB5B-58FF-4850-9317-EB3EBBE2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64408"/>
            <a:ext cx="914400" cy="292608"/>
          </a:xfrm>
          <a:prstGeom xmlns:a="http://schemas.openxmlformats.org/drawingml/2006/main" prst="rect">
            <a:avLst>
              <a:gd name="adj" fmla="val 125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0EC2C53-3998-4F36-855F-06CADC00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264408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ACTIVE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F5556CD-8825-409D-BB34-22C63DFB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38404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994E6D-EBBB-4B4A-829B-143CCF66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64008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D206A1-067D-48DE-8CC6-4DE102FB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05072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Escalation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A04D03-3F91-4228-BDDD-73380ED5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Coordinator dashboard + audit trail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8FB8DCA-84DD-4996-93CC-0C6995D0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33088"/>
            <a:ext cx="914400" cy="292608"/>
          </a:xfrm>
          <a:prstGeom xmlns:a="http://schemas.openxmlformats.org/drawingml/2006/main" prst="rect">
            <a:avLst>
              <a:gd name="adj" fmla="val 12500"/>
            </a:avLst>
          </a:prstGeom>
          <a:solidFill xmlns:a="http://schemas.openxmlformats.org/drawingml/2006/main">
            <a:srgbClr val="F59E0B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4E659A5-E555-49E4-A344-0E845D98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133088"/>
            <a:ext cx="914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ESCALATE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1B8DABD-AAC4-42EA-89CE-6E9010C2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716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10DCAF4-DC72-4BA2-909A-837C5A1D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8760"/>
            <a:ext cx="182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02809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8AC5228-AF21-494C-8C67-2DD28FE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02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Verified Recovery Plan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890A7C-6143-4F2C-99AB-E188324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37160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CEB7825-653E-48F4-B662-0D3FCEE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508760"/>
            <a:ext cx="182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028090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AF2F32A-D118-4407-9CE1-AF16F1D2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24028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Days of Support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834F1EC-202D-4816-96A2-8855F2B1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1752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E23306B-5DFB-4A0E-839D-ECC9A918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54680"/>
            <a:ext cx="182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028090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64C73A8-AC33-48E5-BE57-5B594994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8620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Care Roles Connected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1AAEF599-5A93-4CD2-814C-4043A37D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017520"/>
            <a:ext cx="1828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4958E9E-1EC2-4369-8FD5-B01DAD8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154680"/>
            <a:ext cx="182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200" b="1">
                <a:solidFill>
                  <a:srgbClr val="02809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8AC524-3F3E-46CD-8EF9-0CB8A66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8620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Auditable Timeline</a:t>
            </a:r>
          </a:p>
        </p:txBody>
      </p:sp>
    </p:spTree>
    <p:extLst>
      <p:ext uri="{BB962C8B-B14F-4D97-AF65-F5344CB8AC3E}">
        <p14:creationId xmlns:p14="http://schemas.microsoft.com/office/powerpoint/2010/main" val="1600834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8375D6-1F57-4849-99E5-1A1F8A6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77BDA1-6960-4B8D-AB4B-D4B2491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Recommended Solution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A4158B-0117-4A38-8557-84E33E4C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 clinically verified recovery workflow — broader than a medication reminder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67D389D-62C4-463A-80D3-4C359929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3112F3-6327-4566-8DE6-9BC544F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9BBA32-77B6-4A72-888B-1F8E7EC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AA8ABD-A20A-4EB4-AF77-6726777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Understand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CE63E5-569E-4383-A878-333D252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Upload PDF or photo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Import hospital FHIR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Extract meds &amp; tasks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Flag low confidence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B459EBF-1D1E-4135-9538-EB6CFB7A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C39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11F693-5072-4BC2-A402-4EDFB9F5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DRAFT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4967B6B-923B-43D0-8578-4E5BD48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EAD6682-38F8-47C3-A007-0C95A37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1BF039-8676-4CAF-9EC8-86BDF2B5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D53B65-00F4-484F-A724-CD1FB77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Verify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8D59507-748B-4CEF-873E-8FF29CB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Clinical review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Resolve conflicts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Approve instructions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Preserve source links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305CDFE-350E-473E-AC77-C2E74F38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312D046-1E63-4C16-8BC6-A4C5324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CLINICAL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3F1CDF-E1E3-4557-A25E-2F2492F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8466A85-57B7-4370-B98F-C36F7B19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61761E8-9693-4242-87A7-406E748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6CA83A-0183-4B0D-A6D6-E3E49AA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Guide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E555D0-E768-4150-98B2-BA353A1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Medication reminders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Appointment prompts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Daily care tasks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Symptom check-ins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1D94362-FF77-49CA-9866-E62119C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E206CE4-6D29-4705-92B0-0FB92D40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PATIENT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17BA940-1DCE-4CAF-8B68-DB102EA8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515D778-3DFA-4C55-B55C-AFDE87A8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1205D87-BDC3-47F8-9EAB-CC12A7B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Step 4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7A5860B-2D53-45C4-B203-0955B91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Escalate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BD3A90C-8340-4477-94DB-6491561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Missed critical tasks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Warning symptoms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Medication barriers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Care-team follow-up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7A94F2-94C0-417A-B65D-B24DF0A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A7FCFC5-D8DF-4FDB-A700-F58BEF2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CARE TEAM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94841C1-3286-4023-BF81-53158E9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361A150-496C-4B77-8FB8-6DC9F55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CarePath Transitions  —  AI drafts  —  Clinicians authorize  —  Every action is audited</a:t>
            </a:r>
          </a:p>
        </p:txBody>
      </p:sp>
    </p:spTree>
    <p:extLst>
      <p:ext uri="{BB962C8B-B14F-4D97-AF65-F5344CB8AC3E}">
        <p14:creationId xmlns:p14="http://schemas.microsoft.com/office/powerpoint/2010/main" val="356954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8375D6-1F57-4849-99E5-1A1F8A6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677BDA1-6960-4B8D-AB4B-D4B2491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Recommended MVP Path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A4158B-0117-4A38-8557-84E33E4C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772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Start with the safest workflow that proves patient engagement and care coordination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67D389D-62C4-463A-80D3-4C359929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3112F3-6327-4566-8DE6-9BC544F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A9BBA32-77B6-4A72-888B-1F8E7EC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Phase 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FAA8ABD-A20A-4EB4-AF77-6726777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Intake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CE63E5-569E-4383-A878-333D252A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Document upload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FHIR import option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Structured extraction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Source traceability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B459EBF-1D1E-4135-9538-EB6CFB7A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C39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11F693-5072-4BC2-A402-4EDFB9F5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 CORE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4967B6B-923B-43D0-8578-4E5BD48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EAD6682-38F8-47C3-A007-0C95A37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1BF039-8676-4CAF-9EC8-86BDF2B5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Phase 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D53B65-00F4-484F-A724-CD1FB772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Approval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8D59507-748B-4CEF-873E-8FF29CBA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Clinician review queue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Confidence warnings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Medication reconciliation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 activation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305CDFE-350E-473E-AC77-C2E74F38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312D046-1E63-4C16-8BC6-A4C5324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 CORE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D3F1CDF-E1E3-4557-A25E-2F2492FD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8466A85-57B7-4370-B98F-C36F7B19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61761E8-9693-4242-87A7-406E7487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Phase 3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A6CA83A-0183-4B0D-A6D6-E3E49AA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Guidance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5E555D0-E768-4150-98B2-BA353A1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Medication reminders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Appointment reminders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Patient acknowledgements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Daily check-ins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1D94362-FF77-49CA-9866-E62119C2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E206CE4-6D29-4705-92B0-0FB92D40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MVP CORE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17BA940-1DCE-4CAF-8B68-DB102EA8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371600"/>
            <a:ext cx="187452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  <a:effectLst xmlns:a="http://schemas.openxmlformats.org/drawingml/2006/main">
            <a:outerShdw blurRad="101600" dist="25400" dir="81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515D778-3DFA-4C55-B55C-AFDE87A8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371600"/>
            <a:ext cx="1874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1205D87-BDC3-47F8-9EAB-CC12A7B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55448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A896"/>
                </a:solidFill>
                <a:latin typeface="Calibri"/>
                <a:ea typeface="Calibri"/>
                <a:cs typeface="Calibri"/>
              </a:rPr>
              <a:t>Phase 4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7A5860B-2D53-45C4-B203-0955B91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828800"/>
            <a:ext cx="1691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Coordination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BD3A90C-8340-4477-94DB-6491561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286000"/>
            <a:ext cx="16916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Missed-task escalation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Coordinator dashboard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Family notifications</a:t>
            </a:r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Outcome reporting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7A94F2-94C0-417A-B65D-B24DF0A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40480"/>
            <a:ext cx="914400" cy="256032"/>
          </a:xfrm>
          <a:prstGeom xmlns:a="http://schemas.openxmlformats.org/drawingml/2006/main" prst="rect">
            <a:avLst>
              <a:gd name="adj" fmla="val 14286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A7FCFC5-D8DF-4FDB-A700-F58BEF2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8404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94841C1-3286-4023-BF81-53158E9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361A150-496C-4B77-8FB8-6DC9F555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CarePath Health  —  Verified plans  —  Reminders  —  Acknowledgements  —  Escalation</a:t>
            </a:r>
          </a:p>
        </p:txBody>
      </p:sp>
    </p:spTree>
    <p:extLst>
      <p:ext uri="{BB962C8B-B14F-4D97-AF65-F5344CB8AC3E}">
        <p14:creationId xmlns:p14="http://schemas.microsoft.com/office/powerpoint/2010/main" val="3569545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2026-06-22T18:18:29.0750000Z</dcterms:created>
  <dcterms:modified xsi:type="dcterms:W3CDTF">2026-06-22T18:18:29.0750000Z</dcterms:modified>
</coreProperties>
</file>